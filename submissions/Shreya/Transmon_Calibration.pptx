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74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52560" y="731520"/>
            <a:ext cx="2377440" cy="5212080"/>
          </a:xfrm>
          <a:prstGeom prst="roundRect">
            <a:avLst/>
          </a:prstGeom>
          <a:solidFill>
            <a:srgbClr val="2B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464040" y="1234440"/>
            <a:ext cx="1554480" cy="1554480"/>
          </a:xfrm>
          <a:prstGeom prst="round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829800" y="1600200"/>
            <a:ext cx="822960" cy="822960"/>
          </a:xfrm>
          <a:prstGeom prst="round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005840"/>
            <a:ext cx="7955279" cy="1071062"/>
          </a:xfrm>
          <a:prstGeom prst="rect">
            <a:avLst/>
          </a:prstGeom>
          <a:noFill/>
        </p:spPr>
        <p:txBody>
          <a:bodyPr wrap="square" lIns="73152" tIns="73152" rIns="73152" bIns="73152" anchor="t">
            <a:spAutoFit/>
          </a:bodyPr>
          <a:lstStyle/>
          <a:p>
            <a:pPr>
              <a:spcAft>
                <a:spcPts val="600"/>
              </a:spcAft>
              <a:defRPr sz="3000" b="1">
                <a:solidFill>
                  <a:srgbClr val="FFFFFF"/>
                </a:solidFill>
                <a:latin typeface="Aptos"/>
              </a:defRPr>
            </a:pPr>
            <a:r>
              <a:rPr lang="en-IN" dirty="0"/>
              <a:t>Understanding </a:t>
            </a:r>
            <a:r>
              <a:rPr lang="en-IN" dirty="0" err="1"/>
              <a:t>transmon</a:t>
            </a:r>
            <a:r>
              <a:rPr lang="en-IN" dirty="0"/>
              <a:t> qubits : hardware, dynamics and pulse </a:t>
            </a:r>
            <a:r>
              <a:rPr lang="en-IN" dirty="0" err="1"/>
              <a:t>caliberation</a:t>
            </a:r>
            <a:endParaRPr dirty="0"/>
          </a:p>
        </p:txBody>
      </p:sp>
      <p:sp>
        <p:nvSpPr>
          <p:cNvPr id="7" name="TextBox 6"/>
          <p:cNvSpPr txBox="1"/>
          <p:nvPr/>
        </p:nvSpPr>
        <p:spPr>
          <a:xfrm>
            <a:off x="777240" y="2880360"/>
            <a:ext cx="7589520" cy="763286"/>
          </a:xfrm>
          <a:prstGeom prst="rect">
            <a:avLst/>
          </a:prstGeom>
          <a:noFill/>
        </p:spPr>
        <p:txBody>
          <a:bodyPr wrap="square" lIns="73152" tIns="73152" rIns="73152" bIns="73152" anchor="t">
            <a:spAutoFit/>
          </a:bodyPr>
          <a:lstStyle/>
          <a:p>
            <a:pPr>
              <a:spcAft>
                <a:spcPts val="600"/>
              </a:spcAft>
              <a:defRPr sz="2000" b="0">
                <a:solidFill>
                  <a:srgbClr val="CDDCF0"/>
                </a:solidFill>
                <a:latin typeface="Aptos"/>
              </a:defRPr>
            </a:pPr>
            <a:r>
              <a:rPr lang="en-IN" dirty="0"/>
              <a:t>T</a:t>
            </a:r>
            <a:r>
              <a:rPr dirty="0" err="1"/>
              <a:t>hree</a:t>
            </a:r>
            <a:r>
              <a:rPr dirty="0"/>
              <a:t>-level </a:t>
            </a:r>
            <a:r>
              <a:rPr dirty="0" err="1"/>
              <a:t>transmon</a:t>
            </a:r>
            <a:r>
              <a:rPr lang="en-IN" dirty="0"/>
              <a:t> physics </a:t>
            </a:r>
            <a:r>
              <a:rPr dirty="0"/>
              <a:t>,</a:t>
            </a:r>
            <a:r>
              <a:rPr lang="en-IN" dirty="0"/>
              <a:t>Hamiltonian modelling</a:t>
            </a:r>
            <a:r>
              <a:rPr dirty="0"/>
              <a:t>, and </a:t>
            </a:r>
            <a:r>
              <a:rPr lang="en-IN" dirty="0"/>
              <a:t>adaptive </a:t>
            </a:r>
            <a:r>
              <a:rPr lang="en-IN" dirty="0" err="1"/>
              <a:t>caliberation</a:t>
            </a:r>
            <a:endParaRPr dirty="0"/>
          </a:p>
        </p:txBody>
      </p:sp>
      <p:sp>
        <p:nvSpPr>
          <p:cNvPr id="8" name="Rectangle 7"/>
          <p:cNvSpPr/>
          <p:nvPr/>
        </p:nvSpPr>
        <p:spPr>
          <a:xfrm>
            <a:off x="777240" y="4114800"/>
            <a:ext cx="1143000" cy="7315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4407408"/>
            <a:ext cx="7955279" cy="640080"/>
          </a:xfrm>
          <a:prstGeom prst="rect">
            <a:avLst/>
          </a:prstGeom>
          <a:noFill/>
        </p:spPr>
        <p:txBody>
          <a:bodyPr wrap="square" lIns="73152" tIns="73152" rIns="73152" bIns="73152" anchor="t">
            <a:spAutoFit/>
          </a:bodyPr>
          <a:lstStyle/>
          <a:p>
            <a:pPr>
              <a:spcAft>
                <a:spcPts val="600"/>
              </a:spcAft>
              <a:defRPr sz="1500" b="0">
                <a:solidFill>
                  <a:srgbClr val="FFFFFF"/>
                </a:solidFill>
                <a:latin typeface="Aptos"/>
              </a:defRPr>
            </a:pPr>
            <a:r>
              <a:rPr dirty="0"/>
              <a:t>Background • Physics • Python code • Calibration policies • Downstream algorithm</a:t>
            </a:r>
          </a:p>
        </p:txBody>
      </p:sp>
      <p:sp>
        <p:nvSpPr>
          <p:cNvPr id="10" name="TextBox 9"/>
          <p:cNvSpPr txBox="1"/>
          <p:nvPr/>
        </p:nvSpPr>
        <p:spPr>
          <a:xfrm>
            <a:off x="777240" y="6172200"/>
            <a:ext cx="4572000" cy="274320"/>
          </a:xfrm>
          <a:prstGeom prst="rect">
            <a:avLst/>
          </a:prstGeom>
          <a:noFill/>
        </p:spPr>
        <p:txBody>
          <a:bodyPr wrap="square" lIns="73152" tIns="73152" rIns="73152" bIns="73152" anchor="t">
            <a:spAutoFit/>
          </a:bodyPr>
          <a:lstStyle/>
          <a:p>
            <a:pPr>
              <a:spcAft>
                <a:spcPts val="600"/>
              </a:spcAft>
              <a:defRPr sz="1100" b="1">
                <a:solidFill>
                  <a:srgbClr val="A0DCD6"/>
                </a:solidFill>
                <a:latin typeface="Aptos"/>
              </a:defRPr>
            </a:pPr>
            <a:r>
              <a:t>Q-BLUEPRINT PROJECT EXPLAINER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The story of the project in one picture</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02</a:t>
            </a:r>
          </a:p>
        </p:txBody>
      </p:sp>
      <p:sp>
        <p:nvSpPr>
          <p:cNvPr id="7" name="Rounded Rectangle 6"/>
          <p:cNvSpPr/>
          <p:nvPr/>
        </p:nvSpPr>
        <p:spPr>
          <a:xfrm>
            <a:off x="594360" y="1600200"/>
            <a:ext cx="26060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600200"/>
            <a:ext cx="82296" cy="182880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746504"/>
            <a:ext cx="22219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1. The device drifts</a:t>
            </a:r>
          </a:p>
        </p:txBody>
      </p:sp>
      <p:sp>
        <p:nvSpPr>
          <p:cNvPr id="10" name="TextBox 9"/>
          <p:cNvSpPr txBox="1"/>
          <p:nvPr/>
        </p:nvSpPr>
        <p:spPr>
          <a:xfrm>
            <a:off x="795528" y="2167128"/>
            <a:ext cx="2221992" cy="11704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A transmon's effective frequency and pulse response can slowly change during operation.</a:t>
            </a:r>
          </a:p>
        </p:txBody>
      </p:sp>
      <p:sp>
        <p:nvSpPr>
          <p:cNvPr id="11" name="Rounded Rectangle 10"/>
          <p:cNvSpPr/>
          <p:nvPr/>
        </p:nvSpPr>
        <p:spPr>
          <a:xfrm>
            <a:off x="3429000" y="1600200"/>
            <a:ext cx="26060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29000" y="1600200"/>
            <a:ext cx="82296" cy="182880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0168" y="1746504"/>
            <a:ext cx="22219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2. Gates become imperfect</a:t>
            </a:r>
          </a:p>
        </p:txBody>
      </p:sp>
      <p:sp>
        <p:nvSpPr>
          <p:cNvPr id="14" name="TextBox 13"/>
          <p:cNvSpPr txBox="1"/>
          <p:nvPr/>
        </p:nvSpPr>
        <p:spPr>
          <a:xfrm>
            <a:off x="3630168" y="2167128"/>
            <a:ext cx="2221992" cy="11704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The same control pulse may rotate the qubit by the wrong angle or create leakage.</a:t>
            </a:r>
          </a:p>
        </p:txBody>
      </p:sp>
      <p:sp>
        <p:nvSpPr>
          <p:cNvPr id="15" name="Rounded Rectangle 14"/>
          <p:cNvSpPr/>
          <p:nvPr/>
        </p:nvSpPr>
        <p:spPr>
          <a:xfrm>
            <a:off x="6263640" y="1600200"/>
            <a:ext cx="26060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600200"/>
            <a:ext cx="82296" cy="182880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7" y="1746504"/>
            <a:ext cx="22219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3. We recalibrate</a:t>
            </a:r>
          </a:p>
        </p:txBody>
      </p:sp>
      <p:sp>
        <p:nvSpPr>
          <p:cNvPr id="18" name="TextBox 17"/>
          <p:cNvSpPr txBox="1"/>
          <p:nvPr/>
        </p:nvSpPr>
        <p:spPr>
          <a:xfrm>
            <a:off x="6464807" y="2167128"/>
            <a:ext cx="2221992" cy="11704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Use measurements to estimate amplitude, frequency, and DRAG β.</a:t>
            </a:r>
          </a:p>
        </p:txBody>
      </p:sp>
      <p:sp>
        <p:nvSpPr>
          <p:cNvPr id="19" name="Rounded Rectangle 18"/>
          <p:cNvSpPr/>
          <p:nvPr/>
        </p:nvSpPr>
        <p:spPr>
          <a:xfrm>
            <a:off x="9098280" y="1600200"/>
            <a:ext cx="251460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098280" y="1600200"/>
            <a:ext cx="82296" cy="1828800"/>
          </a:xfrm>
          <a:prstGeom prst="rect">
            <a:avLst/>
          </a:prstGeom>
          <a:solidFill>
            <a:srgbClr val="76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99448" y="1746504"/>
            <a:ext cx="21305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4. Test the impact</a:t>
            </a:r>
          </a:p>
        </p:txBody>
      </p:sp>
      <p:sp>
        <p:nvSpPr>
          <p:cNvPr id="22" name="TextBox 21"/>
          <p:cNvSpPr txBox="1"/>
          <p:nvPr/>
        </p:nvSpPr>
        <p:spPr>
          <a:xfrm>
            <a:off x="9299448" y="2167128"/>
            <a:ext cx="2130552" cy="11704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Run a QAOA MaxCut computation and compare its cost under each policy.</a:t>
            </a:r>
          </a:p>
        </p:txBody>
      </p:sp>
      <p:sp>
        <p:nvSpPr>
          <p:cNvPr id="23" name="TextBox 22"/>
          <p:cNvSpPr txBox="1"/>
          <p:nvPr/>
        </p:nvSpPr>
        <p:spPr>
          <a:xfrm>
            <a:off x="914400" y="4160520"/>
            <a:ext cx="10332720" cy="640080"/>
          </a:xfrm>
          <a:prstGeom prst="rect">
            <a:avLst/>
          </a:prstGeom>
          <a:noFill/>
        </p:spPr>
        <p:txBody>
          <a:bodyPr wrap="square" lIns="73152" tIns="73152" rIns="73152" bIns="73152" anchor="t">
            <a:spAutoFit/>
          </a:bodyPr>
          <a:lstStyle/>
          <a:p>
            <a:pPr algn="ctr">
              <a:spcAft>
                <a:spcPts val="600"/>
              </a:spcAft>
              <a:defRPr sz="2300" b="1">
                <a:solidFill>
                  <a:srgbClr val="162745"/>
                </a:solidFill>
                <a:latin typeface="Aptos"/>
              </a:defRPr>
            </a:pPr>
            <a:r>
              <a:t>Core question: how do we keep gates accurate without wasting the whole day calibrating?</a:t>
            </a:r>
          </a:p>
        </p:txBody>
      </p:sp>
      <p:sp>
        <p:nvSpPr>
          <p:cNvPr id="24" name="TextBox 23"/>
          <p:cNvSpPr txBox="1"/>
          <p:nvPr/>
        </p:nvSpPr>
        <p:spPr>
          <a:xfrm>
            <a:off x="1097280" y="4983480"/>
            <a:ext cx="9966960" cy="548640"/>
          </a:xfrm>
          <a:prstGeom prst="rect">
            <a:avLst/>
          </a:prstGeom>
          <a:noFill/>
        </p:spPr>
        <p:txBody>
          <a:bodyPr wrap="square" lIns="73152" tIns="73152" rIns="73152" bIns="73152" anchor="t">
            <a:spAutoFit/>
          </a:bodyPr>
          <a:lstStyle/>
          <a:p>
            <a:pPr algn="ctr">
              <a:spcAft>
                <a:spcPts val="600"/>
              </a:spcAft>
              <a:defRPr sz="1600" b="0">
                <a:solidFill>
                  <a:srgbClr val="5C687A"/>
                </a:solidFill>
                <a:latin typeface="Aptos"/>
              </a:defRPr>
            </a:pPr>
            <a:r>
              <a:t>This is a control-and-optimisation problem: measure the device, update our settings, and quantify the benefit.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BACKGROUND</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Why does quantum-gate accuracy matter?</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03</a:t>
            </a:r>
          </a:p>
        </p:txBody>
      </p:sp>
      <p:sp>
        <p:nvSpPr>
          <p:cNvPr id="7" name="Rounded Rectangle 6"/>
          <p:cNvSpPr/>
          <p:nvPr/>
        </p:nvSpPr>
        <p:spPr>
          <a:xfrm>
            <a:off x="640080" y="1600200"/>
            <a:ext cx="342900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600200"/>
            <a:ext cx="82296" cy="333756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74650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A qubit</a:t>
            </a:r>
          </a:p>
        </p:txBody>
      </p:sp>
      <p:sp>
        <p:nvSpPr>
          <p:cNvPr id="10" name="TextBox 9"/>
          <p:cNvSpPr txBox="1"/>
          <p:nvPr/>
        </p:nvSpPr>
        <p:spPr>
          <a:xfrm>
            <a:off x="841247" y="2167128"/>
            <a:ext cx="3044952" cy="2679191"/>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A two-level quantum system with basis states |0⟩ and |1⟩.</a:t>
            </a:r>
          </a:p>
          <a:p>
            <a:pPr>
              <a:spcAft>
                <a:spcPts val="600"/>
              </a:spcAft>
              <a:defRPr sz="1600" b="0">
                <a:solidFill>
                  <a:srgbClr val="27303E"/>
                </a:solidFill>
                <a:latin typeface="Aptos"/>
              </a:defRPr>
            </a:pPr>
            <a:endParaRPr/>
          </a:p>
          <a:p>
            <a:pPr>
              <a:spcAft>
                <a:spcPts val="600"/>
              </a:spcAft>
              <a:defRPr sz="1600" b="0">
                <a:solidFill>
                  <a:srgbClr val="27303E"/>
                </a:solidFill>
                <a:latin typeface="Aptos"/>
              </a:defRPr>
            </a:pPr>
            <a:r>
              <a:t>A gate changes its quantum state. For example, an X-like π pulse swaps |0⟩ and |1⟩.</a:t>
            </a:r>
          </a:p>
        </p:txBody>
      </p:sp>
      <p:sp>
        <p:nvSpPr>
          <p:cNvPr id="11" name="Rounded Rectangle 10"/>
          <p:cNvSpPr/>
          <p:nvPr/>
        </p:nvSpPr>
        <p:spPr>
          <a:xfrm>
            <a:off x="4389120" y="1600200"/>
            <a:ext cx="342900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00200"/>
            <a:ext cx="82296" cy="333756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74650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A physical qubit</a:t>
            </a:r>
          </a:p>
        </p:txBody>
      </p:sp>
      <p:sp>
        <p:nvSpPr>
          <p:cNvPr id="14" name="TextBox 13"/>
          <p:cNvSpPr txBox="1"/>
          <p:nvPr/>
        </p:nvSpPr>
        <p:spPr>
          <a:xfrm>
            <a:off x="4590288" y="2167128"/>
            <a:ext cx="3044952" cy="2679191"/>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A real transmon is not a perfect two-level system. It has levels |0⟩, |1⟩, |2⟩, …</a:t>
            </a:r>
          </a:p>
          <a:p>
            <a:pPr>
              <a:spcAft>
                <a:spcPts val="600"/>
              </a:spcAft>
              <a:defRPr sz="1600" b="0">
                <a:solidFill>
                  <a:srgbClr val="27303E"/>
                </a:solidFill>
                <a:latin typeface="Aptos"/>
              </a:defRPr>
            </a:pPr>
            <a:endParaRPr/>
          </a:p>
          <a:p>
            <a:pPr>
              <a:spcAft>
                <a:spcPts val="600"/>
              </a:spcAft>
              <a:defRPr sz="1600" b="0">
                <a:solidFill>
                  <a:srgbClr val="27303E"/>
                </a:solidFill>
                <a:latin typeface="Aptos"/>
              </a:defRPr>
            </a:pPr>
            <a:r>
              <a:t>We use |0⟩ and |1⟩ as the computational qubit, but control pulses can accidentally populate |2⟩.</a:t>
            </a:r>
          </a:p>
        </p:txBody>
      </p:sp>
      <p:sp>
        <p:nvSpPr>
          <p:cNvPr id="15" name="Rounded Rectangle 14"/>
          <p:cNvSpPr/>
          <p:nvPr/>
        </p:nvSpPr>
        <p:spPr>
          <a:xfrm>
            <a:off x="8138160" y="1600200"/>
            <a:ext cx="342900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600200"/>
            <a:ext cx="82296" cy="333756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174650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A calibration</a:t>
            </a:r>
          </a:p>
        </p:txBody>
      </p:sp>
      <p:sp>
        <p:nvSpPr>
          <p:cNvPr id="18" name="TextBox 17"/>
          <p:cNvSpPr txBox="1"/>
          <p:nvPr/>
        </p:nvSpPr>
        <p:spPr>
          <a:xfrm>
            <a:off x="8339328" y="2167128"/>
            <a:ext cx="3044952" cy="2679191"/>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Calibration finds control settings that make the intended operation happen as accurately as possible.</a:t>
            </a:r>
          </a:p>
          <a:p>
            <a:pPr>
              <a:spcAft>
                <a:spcPts val="600"/>
              </a:spcAft>
              <a:defRPr sz="1600" b="0">
                <a:solidFill>
                  <a:srgbClr val="27303E"/>
                </a:solidFill>
                <a:latin typeface="Aptos"/>
              </a:defRPr>
            </a:pPr>
            <a:endParaRPr/>
          </a:p>
          <a:p>
            <a:pPr>
              <a:spcAft>
                <a:spcPts val="600"/>
              </a:spcAft>
              <a:defRPr sz="1600" b="0">
                <a:solidFill>
                  <a:srgbClr val="27303E"/>
                </a:solidFill>
                <a:latin typeface="Aptos"/>
              </a:defRPr>
            </a:pPr>
            <a:r>
              <a:t>It is like tuning a musical instrument before playing a precise piece.</a:t>
            </a:r>
          </a:p>
        </p:txBody>
      </p:sp>
      <p:sp>
        <p:nvSpPr>
          <p:cNvPr id="19" name="TextBox 18"/>
          <p:cNvSpPr txBox="1"/>
          <p:nvPr/>
        </p:nvSpPr>
        <p:spPr>
          <a:xfrm>
            <a:off x="914400" y="5394960"/>
            <a:ext cx="10424160" cy="411480"/>
          </a:xfrm>
          <a:prstGeom prst="rect">
            <a:avLst/>
          </a:prstGeom>
          <a:noFill/>
        </p:spPr>
        <p:txBody>
          <a:bodyPr wrap="square" lIns="73152" tIns="73152" rIns="73152" bIns="73152" anchor="t">
            <a:spAutoFit/>
          </a:bodyPr>
          <a:lstStyle/>
          <a:p>
            <a:pPr algn="ctr">
              <a:spcAft>
                <a:spcPts val="600"/>
              </a:spcAft>
              <a:defRPr sz="1700" b="1">
                <a:solidFill>
                  <a:srgbClr val="162745"/>
                </a:solidFill>
                <a:latin typeface="Aptos"/>
              </a:defRPr>
            </a:pPr>
            <a:r>
              <a:t>Small errors can accumulate across many gates, so a tiny calibration improvement can matter to an algorithm.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PHYSICS BASICS</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What is a transmon, and why use three levels?</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04</a:t>
            </a:r>
          </a:p>
        </p:txBody>
      </p:sp>
      <p:sp>
        <p:nvSpPr>
          <p:cNvPr id="7" name="TextBox 6"/>
          <p:cNvSpPr txBox="1"/>
          <p:nvPr/>
        </p:nvSpPr>
        <p:spPr>
          <a:xfrm>
            <a:off x="685800" y="1508760"/>
            <a:ext cx="10789920" cy="502920"/>
          </a:xfrm>
          <a:prstGeom prst="rect">
            <a:avLst/>
          </a:prstGeom>
          <a:noFill/>
        </p:spPr>
        <p:txBody>
          <a:bodyPr wrap="square" lIns="73152" tIns="73152" rIns="73152" bIns="73152" anchor="t">
            <a:spAutoFit/>
          </a:bodyPr>
          <a:lstStyle/>
          <a:p>
            <a:pPr>
              <a:spcAft>
                <a:spcPts val="600"/>
              </a:spcAft>
              <a:defRPr sz="1800" b="0">
                <a:solidFill>
                  <a:srgbClr val="27303E"/>
                </a:solidFill>
                <a:latin typeface="Aptos"/>
              </a:defRPr>
            </a:pPr>
            <a:r>
              <a:t>A transmon is a superconducting circuit used as a qubit. Its lowest energy levels are not equally spaced.</a:t>
            </a:r>
          </a:p>
        </p:txBody>
      </p:sp>
      <p:sp>
        <p:nvSpPr>
          <p:cNvPr id="8" name="TextBox 7"/>
          <p:cNvSpPr txBox="1"/>
          <p:nvPr/>
        </p:nvSpPr>
        <p:spPr>
          <a:xfrm>
            <a:off x="822960" y="2148840"/>
            <a:ext cx="914400" cy="274320"/>
          </a:xfrm>
          <a:prstGeom prst="rect">
            <a:avLst/>
          </a:prstGeom>
          <a:noFill/>
        </p:spPr>
        <p:txBody>
          <a:bodyPr wrap="square" lIns="73152" tIns="73152" rIns="73152" bIns="73152" anchor="t">
            <a:spAutoFit/>
          </a:bodyPr>
          <a:lstStyle/>
          <a:p>
            <a:pPr>
              <a:spcAft>
                <a:spcPts val="600"/>
              </a:spcAft>
              <a:defRPr sz="1300" b="1">
                <a:solidFill>
                  <a:srgbClr val="5C687A"/>
                </a:solidFill>
                <a:latin typeface="Aptos"/>
              </a:defRPr>
            </a:pPr>
            <a:r>
              <a:t>Energy</a:t>
            </a:r>
          </a:p>
        </p:txBody>
      </p:sp>
      <p:sp>
        <p:nvSpPr>
          <p:cNvPr id="9" name="Rectangle 8"/>
          <p:cNvSpPr/>
          <p:nvPr/>
        </p:nvSpPr>
        <p:spPr>
          <a:xfrm>
            <a:off x="1051560" y="2560320"/>
            <a:ext cx="3017520" cy="64008"/>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97680" y="2432303"/>
            <a:ext cx="3749039" cy="320040"/>
          </a:xfrm>
          <a:prstGeom prst="rect">
            <a:avLst/>
          </a:prstGeom>
          <a:noFill/>
        </p:spPr>
        <p:txBody>
          <a:bodyPr wrap="square" lIns="73152" tIns="73152" rIns="73152" bIns="73152" anchor="t">
            <a:spAutoFit/>
          </a:bodyPr>
          <a:lstStyle/>
          <a:p>
            <a:pPr>
              <a:spcAft>
                <a:spcPts val="600"/>
              </a:spcAft>
              <a:defRPr sz="1600" b="1">
                <a:solidFill>
                  <a:srgbClr val="27303E"/>
                </a:solidFill>
                <a:latin typeface="Aptos"/>
              </a:defRPr>
            </a:pPr>
            <a:r>
              <a:t>|2⟩  leakage level</a:t>
            </a:r>
          </a:p>
        </p:txBody>
      </p:sp>
      <p:sp>
        <p:nvSpPr>
          <p:cNvPr id="11" name="Rectangle 10"/>
          <p:cNvSpPr/>
          <p:nvPr/>
        </p:nvSpPr>
        <p:spPr>
          <a:xfrm>
            <a:off x="1051560" y="3657600"/>
            <a:ext cx="3017520" cy="64008"/>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97680" y="3529584"/>
            <a:ext cx="3749039" cy="320040"/>
          </a:xfrm>
          <a:prstGeom prst="rect">
            <a:avLst/>
          </a:prstGeom>
          <a:noFill/>
        </p:spPr>
        <p:txBody>
          <a:bodyPr wrap="square" lIns="73152" tIns="73152" rIns="73152" bIns="73152" anchor="t">
            <a:spAutoFit/>
          </a:bodyPr>
          <a:lstStyle/>
          <a:p>
            <a:pPr>
              <a:spcAft>
                <a:spcPts val="600"/>
              </a:spcAft>
              <a:defRPr sz="1600" b="1">
                <a:solidFill>
                  <a:srgbClr val="27303E"/>
                </a:solidFill>
                <a:latin typeface="Aptos"/>
              </a:defRPr>
            </a:pPr>
            <a:r>
              <a:t>|1⟩  excited qubit state</a:t>
            </a:r>
          </a:p>
        </p:txBody>
      </p:sp>
      <p:sp>
        <p:nvSpPr>
          <p:cNvPr id="13" name="Rectangle 12"/>
          <p:cNvSpPr/>
          <p:nvPr/>
        </p:nvSpPr>
        <p:spPr>
          <a:xfrm>
            <a:off x="1051560" y="4800600"/>
            <a:ext cx="3017520" cy="64008"/>
          </a:xfrm>
          <a:prstGeom prst="rect">
            <a:avLst/>
          </a:prstGeom>
          <a:solidFill>
            <a:srgbClr val="2B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7680" y="4672584"/>
            <a:ext cx="3749039" cy="320040"/>
          </a:xfrm>
          <a:prstGeom prst="rect">
            <a:avLst/>
          </a:prstGeom>
          <a:noFill/>
        </p:spPr>
        <p:txBody>
          <a:bodyPr wrap="square" lIns="73152" tIns="73152" rIns="73152" bIns="73152" anchor="t">
            <a:spAutoFit/>
          </a:bodyPr>
          <a:lstStyle/>
          <a:p>
            <a:pPr>
              <a:spcAft>
                <a:spcPts val="600"/>
              </a:spcAft>
              <a:defRPr sz="1600" b="1">
                <a:solidFill>
                  <a:srgbClr val="27303E"/>
                </a:solidFill>
                <a:latin typeface="Aptos"/>
              </a:defRPr>
            </a:pPr>
            <a:r>
              <a:t>|0⟩  ground state</a:t>
            </a:r>
          </a:p>
        </p:txBody>
      </p:sp>
      <p:sp>
        <p:nvSpPr>
          <p:cNvPr id="15" name="TextBox 14"/>
          <p:cNvSpPr txBox="1"/>
          <p:nvPr/>
        </p:nvSpPr>
        <p:spPr>
          <a:xfrm>
            <a:off x="7589520" y="2331720"/>
            <a:ext cx="3840480" cy="1600200"/>
          </a:xfrm>
          <a:prstGeom prst="rect">
            <a:avLst/>
          </a:prstGeom>
          <a:noFill/>
        </p:spPr>
        <p:txBody>
          <a:bodyPr wrap="square" lIns="73152" tIns="73152" rIns="73152" bIns="73152" anchor="t">
            <a:spAutoFit/>
          </a:bodyPr>
          <a:lstStyle/>
          <a:p>
            <a:pPr>
              <a:spcAft>
                <a:spcPts val="600"/>
              </a:spcAft>
              <a:defRPr sz="1600" b="0">
                <a:solidFill>
                  <a:srgbClr val="162745"/>
                </a:solidFill>
                <a:latin typeface="Aptos"/>
              </a:defRPr>
            </a:pPr>
            <a:r>
              <a:t>The |1⟩→|2⟩ transition has a different frequency from |0⟩→|1⟩. This anharmonicity helps address the qubit transition selectively.</a:t>
            </a:r>
          </a:p>
        </p:txBody>
      </p:sp>
      <p:sp>
        <p:nvSpPr>
          <p:cNvPr id="16" name="Rounded Rectangle 15"/>
          <p:cNvSpPr/>
          <p:nvPr/>
        </p:nvSpPr>
        <p:spPr>
          <a:xfrm>
            <a:off x="7635240" y="4251960"/>
            <a:ext cx="3657600" cy="1005840"/>
          </a:xfrm>
          <a:prstGeom prst="roundRect">
            <a:avLst/>
          </a:prstGeom>
          <a:solidFill>
            <a:srgbClr val="E8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18120" y="4407408"/>
            <a:ext cx="3337560" cy="685800"/>
          </a:xfrm>
          <a:prstGeom prst="rect">
            <a:avLst/>
          </a:prstGeom>
          <a:noFill/>
        </p:spPr>
        <p:txBody>
          <a:bodyPr wrap="square" lIns="73152" tIns="73152" rIns="73152" bIns="73152" anchor="t">
            <a:spAutoFit/>
          </a:bodyPr>
          <a:lstStyle/>
          <a:p>
            <a:pPr>
              <a:spcAft>
                <a:spcPts val="600"/>
              </a:spcAft>
              <a:defRPr sz="1500" b="1">
                <a:solidFill>
                  <a:srgbClr val="2B5BA6"/>
                </a:solidFill>
                <a:latin typeface="Aptos"/>
              </a:defRPr>
            </a:pPr>
            <a:r>
              <a:t>Why model |2⟩?</a:t>
            </a:r>
          </a:p>
          <a:p>
            <a:pPr>
              <a:spcAft>
                <a:spcPts val="600"/>
              </a:spcAft>
              <a:defRPr sz="1500" b="1">
                <a:solidFill>
                  <a:srgbClr val="2B5BA6"/>
                </a:solidFill>
                <a:latin typeface="Aptos"/>
              </a:defRPr>
            </a:pPr>
            <a:r>
              <a:t>To measure leakage rather than pretending it cannot happen.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PHYSICS BASICS</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How does a pulse rotate a qubit?</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05</a:t>
            </a:r>
          </a:p>
        </p:txBody>
      </p:sp>
      <p:sp>
        <p:nvSpPr>
          <p:cNvPr id="7" name="Rounded Rectangle 6"/>
          <p:cNvSpPr/>
          <p:nvPr/>
        </p:nvSpPr>
        <p:spPr>
          <a:xfrm>
            <a:off x="685800" y="1554480"/>
            <a:ext cx="52578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554480"/>
            <a:ext cx="82296" cy="196596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700784"/>
            <a:ext cx="48737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Control amplitude</a:t>
            </a:r>
          </a:p>
        </p:txBody>
      </p:sp>
      <p:sp>
        <p:nvSpPr>
          <p:cNvPr id="10" name="TextBox 9"/>
          <p:cNvSpPr txBox="1"/>
          <p:nvPr/>
        </p:nvSpPr>
        <p:spPr>
          <a:xfrm>
            <a:off x="886968" y="2121408"/>
            <a:ext cx="4873752" cy="130759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The drive amplitude sets how strongly the microwave pulse acts. Too small → under-rotation; too large → over-rotation.</a:t>
            </a:r>
          </a:p>
        </p:txBody>
      </p:sp>
      <p:sp>
        <p:nvSpPr>
          <p:cNvPr id="11" name="Rounded Rectangle 10"/>
          <p:cNvSpPr/>
          <p:nvPr/>
        </p:nvSpPr>
        <p:spPr>
          <a:xfrm>
            <a:off x="6217920" y="1554480"/>
            <a:ext cx="52578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554480"/>
            <a:ext cx="82296" cy="196596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700784"/>
            <a:ext cx="48737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Drive frequency / detuning</a:t>
            </a:r>
          </a:p>
        </p:txBody>
      </p:sp>
      <p:sp>
        <p:nvSpPr>
          <p:cNvPr id="14" name="TextBox 13"/>
          <p:cNvSpPr txBox="1"/>
          <p:nvPr/>
        </p:nvSpPr>
        <p:spPr>
          <a:xfrm>
            <a:off x="6419088" y="2121408"/>
            <a:ext cx="4873752" cy="130759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Detuning is the difference between the applied drive frequency and the qubit transition frequency. Nonzero detuning changes the rotation axis and can reduce gate fidelity.</a:t>
            </a:r>
          </a:p>
        </p:txBody>
      </p:sp>
      <p:sp>
        <p:nvSpPr>
          <p:cNvPr id="15" name="Rounded Rectangle 14"/>
          <p:cNvSpPr/>
          <p:nvPr/>
        </p:nvSpPr>
        <p:spPr>
          <a:xfrm>
            <a:off x="777240" y="3977639"/>
            <a:ext cx="5257800" cy="132588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1832" y="4096511"/>
            <a:ext cx="4928616" cy="1088136"/>
          </a:xfrm>
          <a:prstGeom prst="rect">
            <a:avLst/>
          </a:prstGeom>
          <a:noFill/>
        </p:spPr>
        <p:txBody>
          <a:bodyPr wrap="square" lIns="73152" tIns="73152" rIns="73152" bIns="73152" anchor="t">
            <a:spAutoFit/>
          </a:bodyPr>
          <a:lstStyle/>
          <a:p>
            <a:pPr>
              <a:spcAft>
                <a:spcPts val="600"/>
              </a:spcAft>
              <a:defRPr sz="1500" b="0">
                <a:solidFill>
                  <a:srgbClr val="E4EFF9"/>
                </a:solidFill>
                <a:latin typeface="Consolas"/>
              </a:defRPr>
            </a:pPr>
            <a:r>
              <a:t>A_pulse = amp * A</a:t>
            </a:r>
          </a:p>
          <a:p>
            <a:pPr>
              <a:spcAft>
                <a:spcPts val="600"/>
              </a:spcAft>
              <a:defRPr sz="1500" b="0">
                <a:solidFill>
                  <a:srgbClr val="E4EFF9"/>
                </a:solidFill>
                <a:latin typeface="Consolas"/>
              </a:defRPr>
            </a:pPr>
            <a:endParaRPr/>
          </a:p>
          <a:p>
            <a:pPr>
              <a:spcAft>
                <a:spcPts val="600"/>
              </a:spcAft>
              <a:defRPr sz="1500" b="0">
                <a:solidFill>
                  <a:srgbClr val="E4EFF9"/>
                </a:solidFill>
                <a:latin typeface="Consolas"/>
              </a:defRPr>
            </a:pPr>
            <a:r>
              <a:t>Ωx(t) = A_pulse · exp[-(t − t₀)² / (2σ²)]</a:t>
            </a:r>
          </a:p>
        </p:txBody>
      </p:sp>
      <p:sp>
        <p:nvSpPr>
          <p:cNvPr id="17" name="Rounded Rectangle 16"/>
          <p:cNvSpPr/>
          <p:nvPr/>
        </p:nvSpPr>
        <p:spPr>
          <a:xfrm>
            <a:off x="6217920" y="3977639"/>
            <a:ext cx="5257800" cy="132588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82512" y="4096511"/>
            <a:ext cx="4928616" cy="1088136"/>
          </a:xfrm>
          <a:prstGeom prst="rect">
            <a:avLst/>
          </a:prstGeom>
          <a:noFill/>
        </p:spPr>
        <p:txBody>
          <a:bodyPr wrap="square" lIns="73152" tIns="73152" rIns="73152" bIns="73152" anchor="t">
            <a:spAutoFit/>
          </a:bodyPr>
          <a:lstStyle/>
          <a:p>
            <a:pPr>
              <a:spcAft>
                <a:spcPts val="600"/>
              </a:spcAft>
              <a:defRPr sz="1500" b="0">
                <a:solidFill>
                  <a:srgbClr val="E4EFF9"/>
                </a:solidFill>
                <a:latin typeface="Consolas"/>
              </a:defRPr>
            </a:pPr>
            <a:r>
              <a:t>Ωx,detuned(t) = Ωx(t) · cos(Δ t)</a:t>
            </a:r>
          </a:p>
          <a:p>
            <a:pPr>
              <a:spcAft>
                <a:spcPts val="600"/>
              </a:spcAft>
              <a:defRPr sz="1500" b="0">
                <a:solidFill>
                  <a:srgbClr val="E4EFF9"/>
                </a:solidFill>
                <a:latin typeface="Consolas"/>
              </a:defRPr>
            </a:pPr>
            <a:endParaRPr/>
          </a:p>
          <a:p>
            <a:pPr>
              <a:spcAft>
                <a:spcPts val="600"/>
              </a:spcAft>
              <a:defRPr sz="1500" b="0">
                <a:solidFill>
                  <a:srgbClr val="E4EFF9"/>
                </a:solidFill>
                <a:latin typeface="Consolas"/>
              </a:defRPr>
            </a:pPr>
            <a:r>
              <a:t>Δ = drive frequency − qubit frequency</a:t>
            </a:r>
          </a:p>
        </p:txBody>
      </p:sp>
      <p:sp>
        <p:nvSpPr>
          <p:cNvPr id="19" name="TextBox 18"/>
          <p:cNvSpPr txBox="1"/>
          <p:nvPr/>
        </p:nvSpPr>
        <p:spPr>
          <a:xfrm>
            <a:off x="822960" y="5577840"/>
            <a:ext cx="10789920" cy="457200"/>
          </a:xfrm>
          <a:prstGeom prst="rect">
            <a:avLst/>
          </a:prstGeom>
          <a:noFill/>
        </p:spPr>
        <p:txBody>
          <a:bodyPr wrap="square" lIns="73152" tIns="73152" rIns="73152" bIns="73152" anchor="t">
            <a:spAutoFit/>
          </a:bodyPr>
          <a:lstStyle/>
          <a:p>
            <a:pPr>
              <a:spcAft>
                <a:spcPts val="600"/>
              </a:spcAft>
              <a:defRPr sz="1300" b="0">
                <a:solidFill>
                  <a:srgbClr val="5C687A"/>
                </a:solidFill>
                <a:latin typeface="Aptos"/>
              </a:defRPr>
            </a:pPr>
            <a:r>
              <a:t>The exact convention depends on the rotating-frame Hamiltonian used in the simulator; the key idea is that detuning changes the effective drive dynamics.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PHYSICS BASICS</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Gaussian pulses and leakage</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06</a:t>
            </a:r>
          </a:p>
        </p:txBody>
      </p:sp>
      <p:sp>
        <p:nvSpPr>
          <p:cNvPr id="7" name="TextBox 6"/>
          <p:cNvSpPr txBox="1"/>
          <p:nvPr/>
        </p:nvSpPr>
        <p:spPr>
          <a:xfrm>
            <a:off x="685800" y="1508760"/>
            <a:ext cx="10515600" cy="411480"/>
          </a:xfrm>
          <a:prstGeom prst="rect">
            <a:avLst/>
          </a:prstGeom>
          <a:noFill/>
        </p:spPr>
        <p:txBody>
          <a:bodyPr wrap="square" lIns="73152" tIns="73152" rIns="73152" bIns="73152" anchor="t">
            <a:spAutoFit/>
          </a:bodyPr>
          <a:lstStyle/>
          <a:p>
            <a:pPr>
              <a:spcAft>
                <a:spcPts val="600"/>
              </a:spcAft>
              <a:defRPr sz="1800" b="0">
                <a:solidFill>
                  <a:srgbClr val="27303E"/>
                </a:solidFill>
                <a:latin typeface="Aptos"/>
              </a:defRPr>
            </a:pPr>
            <a:r>
              <a:t>A Gaussian pulse turns the drive on and off smoothly instead of switching abruptly.</a:t>
            </a:r>
          </a:p>
        </p:txBody>
      </p:sp>
      <p:sp>
        <p:nvSpPr>
          <p:cNvPr id="8" name="Rounded Rectangle 7"/>
          <p:cNvSpPr/>
          <p:nvPr/>
        </p:nvSpPr>
        <p:spPr>
          <a:xfrm>
            <a:off x="822960" y="2057400"/>
            <a:ext cx="4937760" cy="2377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34440" y="3977639"/>
            <a:ext cx="3977639" cy="22860"/>
          </a:xfrm>
          <a:prstGeom prst="rect">
            <a:avLst/>
          </a:prstGeom>
          <a:solidFill>
            <a:srgbClr val="5C6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234440" y="2423160"/>
            <a:ext cx="22860" cy="1572768"/>
          </a:xfrm>
          <a:prstGeom prst="rect">
            <a:avLst/>
          </a:prstGeom>
          <a:solidFill>
            <a:srgbClr val="5C6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flipV="1">
            <a:off x="1325880" y="3898578"/>
            <a:ext cx="93726" cy="5702"/>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419606" y="3889983"/>
            <a:ext cx="93726" cy="8595"/>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513332" y="3877378"/>
            <a:ext cx="93725" cy="12605"/>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607057" y="3859394"/>
            <a:ext cx="93727" cy="17984"/>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700784" y="3834446"/>
            <a:ext cx="93726" cy="24948"/>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794510" y="3800811"/>
            <a:ext cx="93726" cy="33635"/>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888236" y="3756767"/>
            <a:ext cx="93726" cy="44044"/>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981962" y="3700787"/>
            <a:ext cx="93726" cy="55980"/>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75688" y="3631796"/>
            <a:ext cx="93726" cy="68991"/>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169414" y="3549444"/>
            <a:ext cx="93725" cy="82352"/>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63139" y="3454378"/>
            <a:ext cx="93726" cy="95066"/>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56865" y="3348464"/>
            <a:ext cx="93726" cy="105914"/>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0591" y="3234898"/>
            <a:ext cx="93727" cy="113566"/>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4318" y="3118172"/>
            <a:ext cx="93726" cy="116726"/>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38044" y="3003857"/>
            <a:ext cx="93726" cy="114315"/>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31770" y="2898209"/>
            <a:ext cx="93726" cy="105648"/>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825496" y="2807627"/>
            <a:ext cx="93726" cy="90582"/>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919222" y="2738019"/>
            <a:ext cx="93726" cy="69608"/>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012948" y="2694169"/>
            <a:ext cx="93726" cy="43850"/>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06674" y="2679192"/>
            <a:ext cx="93726" cy="14977"/>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00400" y="2679192"/>
            <a:ext cx="93726" cy="14977"/>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94126" y="2694169"/>
            <a:ext cx="93726" cy="43850"/>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87852" y="2738019"/>
            <a:ext cx="93725" cy="69608"/>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81577" y="2807627"/>
            <a:ext cx="93726" cy="90582"/>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575303" y="2898209"/>
            <a:ext cx="93727" cy="105648"/>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669030" y="3003857"/>
            <a:ext cx="93726" cy="114315"/>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762756" y="3118172"/>
            <a:ext cx="93726" cy="116726"/>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856482" y="3234898"/>
            <a:ext cx="93725" cy="113566"/>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950207" y="3348464"/>
            <a:ext cx="93726" cy="105914"/>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043933" y="3454378"/>
            <a:ext cx="93726" cy="95066"/>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137659" y="3549444"/>
            <a:ext cx="93727" cy="82352"/>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231386" y="3631796"/>
            <a:ext cx="93726" cy="68991"/>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25112" y="3700787"/>
            <a:ext cx="93726" cy="55980"/>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18838" y="3756767"/>
            <a:ext cx="93726" cy="44044"/>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512564" y="3800811"/>
            <a:ext cx="93726" cy="33635"/>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606290" y="3834446"/>
            <a:ext cx="93726" cy="24948"/>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700016" y="3859394"/>
            <a:ext cx="93726" cy="17984"/>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93742" y="3877378"/>
            <a:ext cx="93726" cy="12605"/>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887468" y="3889983"/>
            <a:ext cx="93726" cy="8595"/>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981194" y="3898578"/>
            <a:ext cx="93726" cy="5702"/>
          </a:xfrm>
          <a:prstGeom prst="line">
            <a:avLst/>
          </a:prstGeom>
          <a:ln w="31750">
            <a:solidFill>
              <a:srgbClr val="009691"/>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389120" y="4069080"/>
            <a:ext cx="914400" cy="228600"/>
          </a:xfrm>
          <a:prstGeom prst="rect">
            <a:avLst/>
          </a:prstGeom>
          <a:noFill/>
        </p:spPr>
        <p:txBody>
          <a:bodyPr wrap="square" lIns="73152" tIns="73152" rIns="73152" bIns="73152" anchor="t">
            <a:spAutoFit/>
          </a:bodyPr>
          <a:lstStyle/>
          <a:p>
            <a:pPr>
              <a:spcAft>
                <a:spcPts val="600"/>
              </a:spcAft>
              <a:defRPr sz="1100" b="0">
                <a:solidFill>
                  <a:srgbClr val="5C687A"/>
                </a:solidFill>
                <a:latin typeface="Aptos"/>
              </a:defRPr>
            </a:pPr>
            <a:r>
              <a:t>time →</a:t>
            </a:r>
          </a:p>
        </p:txBody>
      </p:sp>
      <p:sp>
        <p:nvSpPr>
          <p:cNvPr id="52" name="Rounded Rectangle 51"/>
          <p:cNvSpPr/>
          <p:nvPr/>
        </p:nvSpPr>
        <p:spPr>
          <a:xfrm>
            <a:off x="6217920" y="2057400"/>
            <a:ext cx="512064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217920" y="2057400"/>
            <a:ext cx="82296" cy="105156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19088" y="2203704"/>
            <a:ext cx="47365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Desired action</a:t>
            </a:r>
          </a:p>
        </p:txBody>
      </p:sp>
      <p:sp>
        <p:nvSpPr>
          <p:cNvPr id="55" name="TextBox 54"/>
          <p:cNvSpPr txBox="1"/>
          <p:nvPr/>
        </p:nvSpPr>
        <p:spPr>
          <a:xfrm>
            <a:off x="6419088" y="2624328"/>
            <a:ext cx="4736592" cy="393191"/>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A calibrated Gaussian π pulse should rotate |0⟩ to |1⟩.</a:t>
            </a:r>
          </a:p>
        </p:txBody>
      </p:sp>
      <p:sp>
        <p:nvSpPr>
          <p:cNvPr id="56" name="Rounded Rectangle 55"/>
          <p:cNvSpPr/>
          <p:nvPr/>
        </p:nvSpPr>
        <p:spPr>
          <a:xfrm>
            <a:off x="6217920" y="3337560"/>
            <a:ext cx="512064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217920" y="3337560"/>
            <a:ext cx="82296" cy="105156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19088" y="3483864"/>
            <a:ext cx="47365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Unwanted action</a:t>
            </a:r>
          </a:p>
        </p:txBody>
      </p:sp>
      <p:sp>
        <p:nvSpPr>
          <p:cNvPr id="59" name="TextBox 58"/>
          <p:cNvSpPr txBox="1"/>
          <p:nvPr/>
        </p:nvSpPr>
        <p:spPr>
          <a:xfrm>
            <a:off x="6419088" y="3904487"/>
            <a:ext cx="4736592" cy="393191"/>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Strong or poorly shaped pulses can also drive population into |2⟩.</a:t>
            </a:r>
          </a:p>
        </p:txBody>
      </p:sp>
      <p:sp>
        <p:nvSpPr>
          <p:cNvPr id="60" name="TextBox 59"/>
          <p:cNvSpPr txBox="1"/>
          <p:nvPr/>
        </p:nvSpPr>
        <p:spPr>
          <a:xfrm>
            <a:off x="914400" y="5074920"/>
            <a:ext cx="10515600" cy="502920"/>
          </a:xfrm>
          <a:prstGeom prst="rect">
            <a:avLst/>
          </a:prstGeom>
          <a:noFill/>
        </p:spPr>
        <p:txBody>
          <a:bodyPr wrap="square" lIns="73152" tIns="73152" rIns="73152" bIns="73152" anchor="t">
            <a:spAutoFit/>
          </a:bodyPr>
          <a:lstStyle/>
          <a:p>
            <a:pPr algn="ctr">
              <a:spcAft>
                <a:spcPts val="600"/>
              </a:spcAft>
              <a:defRPr sz="1800" b="1">
                <a:solidFill>
                  <a:srgbClr val="162745"/>
                </a:solidFill>
                <a:latin typeface="Aptos"/>
              </a:defRPr>
            </a:pPr>
            <a:r>
              <a:t>Leakage is population outside the computational subspace: approximately P₂ for this three-level model.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PHYSICS BASICS</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What is DRAG, and what does β do?</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07</a:t>
            </a:r>
          </a:p>
        </p:txBody>
      </p:sp>
      <p:sp>
        <p:nvSpPr>
          <p:cNvPr id="7" name="Rounded Rectangle 6"/>
          <p:cNvSpPr/>
          <p:nvPr/>
        </p:nvSpPr>
        <p:spPr>
          <a:xfrm>
            <a:off x="685800" y="1600200"/>
            <a:ext cx="3474720" cy="3017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00200"/>
            <a:ext cx="82296" cy="301752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746504"/>
            <a:ext cx="309067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Problem</a:t>
            </a:r>
          </a:p>
        </p:txBody>
      </p:sp>
      <p:sp>
        <p:nvSpPr>
          <p:cNvPr id="10" name="TextBox 9"/>
          <p:cNvSpPr txBox="1"/>
          <p:nvPr/>
        </p:nvSpPr>
        <p:spPr>
          <a:xfrm>
            <a:off x="886968" y="2167128"/>
            <a:ext cx="3090672" cy="235915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A fast pulse can unintentionally excite |1⟩→|2⟩ and add phase errors.</a:t>
            </a:r>
          </a:p>
        </p:txBody>
      </p:sp>
      <p:sp>
        <p:nvSpPr>
          <p:cNvPr id="11" name="Rounded Rectangle 10"/>
          <p:cNvSpPr/>
          <p:nvPr/>
        </p:nvSpPr>
        <p:spPr>
          <a:xfrm>
            <a:off x="4389120" y="1600200"/>
            <a:ext cx="3474720" cy="3017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00200"/>
            <a:ext cx="82296" cy="301752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746504"/>
            <a:ext cx="309067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DRAG idea</a:t>
            </a:r>
          </a:p>
        </p:txBody>
      </p:sp>
      <p:sp>
        <p:nvSpPr>
          <p:cNvPr id="14" name="TextBox 13"/>
          <p:cNvSpPr txBox="1"/>
          <p:nvPr/>
        </p:nvSpPr>
        <p:spPr>
          <a:xfrm>
            <a:off x="4590288" y="2167128"/>
            <a:ext cx="3090672" cy="235915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Add a carefully chosen quadrature component related to the time derivative of the main Gaussian envelope.</a:t>
            </a:r>
          </a:p>
        </p:txBody>
      </p:sp>
      <p:sp>
        <p:nvSpPr>
          <p:cNvPr id="15" name="Rounded Rectangle 14"/>
          <p:cNvSpPr/>
          <p:nvPr/>
        </p:nvSpPr>
        <p:spPr>
          <a:xfrm>
            <a:off x="8092440" y="1600200"/>
            <a:ext cx="3474720" cy="3017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600200"/>
            <a:ext cx="82296" cy="301752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746504"/>
            <a:ext cx="309067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β (beta)</a:t>
            </a:r>
          </a:p>
        </p:txBody>
      </p:sp>
      <p:sp>
        <p:nvSpPr>
          <p:cNvPr id="18" name="TextBox 17"/>
          <p:cNvSpPr txBox="1"/>
          <p:nvPr/>
        </p:nvSpPr>
        <p:spPr>
          <a:xfrm>
            <a:off x="8293608" y="2167128"/>
            <a:ext cx="3090672" cy="235915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β controls the strength/sign of this correction. DRAG calibration searches for the β that minimises leakage and gate error.</a:t>
            </a:r>
          </a:p>
        </p:txBody>
      </p:sp>
      <p:sp>
        <p:nvSpPr>
          <p:cNvPr id="19" name="Rounded Rectangle 18"/>
          <p:cNvSpPr/>
          <p:nvPr/>
        </p:nvSpPr>
        <p:spPr>
          <a:xfrm>
            <a:off x="1828800" y="5074920"/>
            <a:ext cx="8458200" cy="68580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93392" y="5193792"/>
            <a:ext cx="8129016" cy="448056"/>
          </a:xfrm>
          <a:prstGeom prst="rect">
            <a:avLst/>
          </a:prstGeom>
          <a:noFill/>
        </p:spPr>
        <p:txBody>
          <a:bodyPr wrap="square" lIns="73152" tIns="73152" rIns="73152" bIns="73152" anchor="t">
            <a:spAutoFit/>
          </a:bodyPr>
          <a:lstStyle/>
          <a:p>
            <a:pPr>
              <a:spcAft>
                <a:spcPts val="600"/>
              </a:spcAft>
              <a:defRPr sz="1800" b="0">
                <a:solidFill>
                  <a:srgbClr val="E4EFF9"/>
                </a:solidFill>
                <a:latin typeface="Consolas"/>
              </a:defRPr>
            </a:pPr>
            <a:r>
              <a:t>Ωy(t) ∝ β · dΩx(t)/dt</a:t>
            </a:r>
          </a:p>
        </p:txBody>
      </p:sp>
      <p:sp>
        <p:nvSpPr>
          <p:cNvPr id="21" name="TextBox 20"/>
          <p:cNvSpPr txBox="1"/>
          <p:nvPr/>
        </p:nvSpPr>
        <p:spPr>
          <a:xfrm>
            <a:off x="914400" y="5897880"/>
            <a:ext cx="10424160" cy="320040"/>
          </a:xfrm>
          <a:prstGeom prst="rect">
            <a:avLst/>
          </a:prstGeom>
          <a:noFill/>
        </p:spPr>
        <p:txBody>
          <a:bodyPr wrap="square" lIns="73152" tIns="73152" rIns="73152" bIns="73152" anchor="t">
            <a:spAutoFit/>
          </a:bodyPr>
          <a:lstStyle/>
          <a:p>
            <a:pPr algn="ctr">
              <a:spcAft>
                <a:spcPts val="600"/>
              </a:spcAft>
              <a:defRPr sz="1200" b="0">
                <a:solidFill>
                  <a:srgbClr val="5C687A"/>
                </a:solidFill>
                <a:latin typeface="Aptos"/>
              </a:defRPr>
            </a:pPr>
            <a:r>
              <a:t>Exact signs and scaling depend on the Hamiltonian convention; think of β as the knob controlling the correction pulse.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PYTHON CODE</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Reading the simulator: what does simulate_pulse do?</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08</a:t>
            </a:r>
          </a:p>
        </p:txBody>
      </p:sp>
      <p:sp>
        <p:nvSpPr>
          <p:cNvPr id="7" name="Rounded Rectangle 6"/>
          <p:cNvSpPr/>
          <p:nvPr/>
        </p:nvSpPr>
        <p:spPr>
          <a:xfrm>
            <a:off x="685800" y="1600200"/>
            <a:ext cx="6949440" cy="438912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1719072"/>
            <a:ext cx="6620255" cy="4151376"/>
          </a:xfrm>
          <a:prstGeom prst="rect">
            <a:avLst/>
          </a:prstGeom>
          <a:noFill/>
        </p:spPr>
        <p:txBody>
          <a:bodyPr wrap="square" lIns="73152" tIns="73152" rIns="73152" bIns="73152" anchor="t">
            <a:spAutoFit/>
          </a:bodyPr>
          <a:lstStyle/>
          <a:p>
            <a:pPr>
              <a:spcAft>
                <a:spcPts val="600"/>
              </a:spcAft>
              <a:defRPr sz="1200" b="0">
                <a:solidFill>
                  <a:srgbClr val="E4EFF9"/>
                </a:solidFill>
                <a:latin typeface="Consolas"/>
              </a:defRPr>
            </a:pPr>
            <a:r>
              <a:t>def simulate_pulse(amp, beta=0.0, detuning=0.0):</a:t>
            </a:r>
          </a:p>
          <a:p>
            <a:pPr>
              <a:spcAft>
                <a:spcPts val="600"/>
              </a:spcAft>
              <a:defRPr sz="1200" b="0">
                <a:solidFill>
                  <a:srgbClr val="E4EFF9"/>
                </a:solidFill>
                <a:latin typeface="Consolas"/>
              </a:defRPr>
            </a:pPr>
            <a:r>
              <a:t>    A_pulse = amp * A</a:t>
            </a:r>
          </a:p>
          <a:p>
            <a:pPr>
              <a:spcAft>
                <a:spcPts val="600"/>
              </a:spcAft>
              <a:defRPr sz="1200" b="0">
                <a:solidFill>
                  <a:srgbClr val="E4EFF9"/>
                </a:solidFill>
                <a:latin typeface="Consolas"/>
              </a:defRPr>
            </a:pPr>
            <a:endParaRPr/>
          </a:p>
          <a:p>
            <a:pPr>
              <a:spcAft>
                <a:spcPts val="600"/>
              </a:spcAft>
              <a:defRPr sz="1200" b="0">
                <a:solidFill>
                  <a:srgbClr val="E4EFF9"/>
                </a:solidFill>
                <a:latin typeface="Consolas"/>
              </a:defRPr>
            </a:pPr>
            <a:r>
              <a:t>    def omega_x(t, args):</a:t>
            </a:r>
          </a:p>
          <a:p>
            <a:pPr>
              <a:spcAft>
                <a:spcPts val="600"/>
              </a:spcAft>
              <a:defRPr sz="1200" b="0">
                <a:solidFill>
                  <a:srgbClr val="E4EFF9"/>
                </a:solidFill>
                <a:latin typeface="Consolas"/>
              </a:defRPr>
            </a:pPr>
            <a:r>
              <a:t>        t0 = T_gate / 2</a:t>
            </a:r>
          </a:p>
          <a:p>
            <a:pPr>
              <a:spcAft>
                <a:spcPts val="600"/>
              </a:spcAft>
              <a:defRPr sz="1200" b="0">
                <a:solidFill>
                  <a:srgbClr val="E4EFF9"/>
                </a:solidFill>
                <a:latin typeface="Consolas"/>
              </a:defRPr>
            </a:pPr>
            <a:r>
              <a:t>        return A_pulse * exp(-((t-t0)**2)/(2*sigma**2)) * cos(detuning*t)</a:t>
            </a:r>
          </a:p>
          <a:p>
            <a:pPr>
              <a:spcAft>
                <a:spcPts val="600"/>
              </a:spcAft>
              <a:defRPr sz="1200" b="0">
                <a:solidFill>
                  <a:srgbClr val="E4EFF9"/>
                </a:solidFill>
                <a:latin typeface="Consolas"/>
              </a:defRPr>
            </a:pPr>
            <a:endParaRPr/>
          </a:p>
          <a:p>
            <a:pPr>
              <a:spcAft>
                <a:spcPts val="600"/>
              </a:spcAft>
              <a:defRPr sz="1200" b="0">
                <a:solidFill>
                  <a:srgbClr val="E4EFF9"/>
                </a:solidFill>
                <a:latin typeface="Consolas"/>
              </a:defRPr>
            </a:pPr>
            <a:r>
              <a:t>    def omega_y(t, args):</a:t>
            </a:r>
          </a:p>
          <a:p>
            <a:pPr>
              <a:spcAft>
                <a:spcPts val="600"/>
              </a:spcAft>
              <a:defRPr sz="1200" b="0">
                <a:solidFill>
                  <a:srgbClr val="E4EFF9"/>
                </a:solidFill>
                <a:latin typeface="Consolas"/>
              </a:defRPr>
            </a:pPr>
            <a:r>
              <a:t>        # DRAG correction</a:t>
            </a:r>
          </a:p>
          <a:p>
            <a:pPr>
              <a:spcAft>
                <a:spcPts val="600"/>
              </a:spcAft>
              <a:defRPr sz="1200" b="0">
                <a:solidFill>
                  <a:srgbClr val="E4EFF9"/>
                </a:solidFill>
                <a:latin typeface="Consolas"/>
              </a:defRPr>
            </a:pPr>
            <a:r>
              <a:t>        return beta * derivative_of_gaussian(t)</a:t>
            </a:r>
          </a:p>
          <a:p>
            <a:pPr>
              <a:spcAft>
                <a:spcPts val="600"/>
              </a:spcAft>
              <a:defRPr sz="1200" b="0">
                <a:solidFill>
                  <a:srgbClr val="E4EFF9"/>
                </a:solidFill>
                <a:latin typeface="Consolas"/>
              </a:defRPr>
            </a:pPr>
            <a:endParaRPr/>
          </a:p>
          <a:p>
            <a:pPr>
              <a:spcAft>
                <a:spcPts val="600"/>
              </a:spcAft>
              <a:defRPr sz="1200" b="0">
                <a:solidFill>
                  <a:srgbClr val="E4EFF9"/>
                </a:solidFill>
                <a:latin typeface="Consolas"/>
              </a:defRPr>
            </a:pPr>
            <a:r>
              <a:t>    H_tot = [H0, [Hd, omega_x], [H_drag, omega_y]]</a:t>
            </a:r>
          </a:p>
          <a:p>
            <a:pPr>
              <a:spcAft>
                <a:spcPts val="600"/>
              </a:spcAft>
              <a:defRPr sz="1200" b="0">
                <a:solidFill>
                  <a:srgbClr val="E4EFF9"/>
                </a:solidFill>
                <a:latin typeface="Consolas"/>
              </a:defRPr>
            </a:pPr>
            <a:r>
              <a:t>    res = mesolve(H_tot, psi0, tlist, e_ops=projectors)</a:t>
            </a:r>
          </a:p>
          <a:p>
            <a:pPr>
              <a:spcAft>
                <a:spcPts val="600"/>
              </a:spcAft>
              <a:defRPr sz="1200" b="0">
                <a:solidFill>
                  <a:srgbClr val="E4EFF9"/>
                </a:solidFill>
                <a:latin typeface="Consolas"/>
              </a:defRPr>
            </a:pPr>
            <a:r>
              <a:t>    return P0, P1, P2, final_state</a:t>
            </a:r>
          </a:p>
        </p:txBody>
      </p:sp>
      <p:sp>
        <p:nvSpPr>
          <p:cNvPr id="9" name="Rounded Rectangle 8"/>
          <p:cNvSpPr/>
          <p:nvPr/>
        </p:nvSpPr>
        <p:spPr>
          <a:xfrm>
            <a:off x="7955279" y="1691640"/>
            <a:ext cx="35204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955279" y="1691640"/>
            <a:ext cx="82296" cy="114300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56448" y="1837944"/>
            <a:ext cx="31363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Inputs</a:t>
            </a:r>
          </a:p>
        </p:txBody>
      </p:sp>
      <p:sp>
        <p:nvSpPr>
          <p:cNvPr id="12" name="TextBox 11"/>
          <p:cNvSpPr txBox="1"/>
          <p:nvPr/>
        </p:nvSpPr>
        <p:spPr>
          <a:xfrm>
            <a:off x="8156448" y="2258568"/>
            <a:ext cx="3136392" cy="4846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amp, β and detuning</a:t>
            </a:r>
          </a:p>
        </p:txBody>
      </p:sp>
      <p:sp>
        <p:nvSpPr>
          <p:cNvPr id="13" name="Rounded Rectangle 12"/>
          <p:cNvSpPr/>
          <p:nvPr/>
        </p:nvSpPr>
        <p:spPr>
          <a:xfrm>
            <a:off x="7955279" y="3017520"/>
            <a:ext cx="35204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55279" y="3017520"/>
            <a:ext cx="82296" cy="114300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56448" y="3163824"/>
            <a:ext cx="31363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Inside</a:t>
            </a:r>
          </a:p>
        </p:txBody>
      </p:sp>
      <p:sp>
        <p:nvSpPr>
          <p:cNvPr id="16" name="TextBox 15"/>
          <p:cNvSpPr txBox="1"/>
          <p:nvPr/>
        </p:nvSpPr>
        <p:spPr>
          <a:xfrm>
            <a:off x="8156448" y="3584448"/>
            <a:ext cx="3136392" cy="4846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Build time-dependent Hamiltonian and solve Schrödinger / master-equation dynamics.</a:t>
            </a:r>
          </a:p>
        </p:txBody>
      </p:sp>
      <p:sp>
        <p:nvSpPr>
          <p:cNvPr id="17" name="Rounded Rectangle 16"/>
          <p:cNvSpPr/>
          <p:nvPr/>
        </p:nvSpPr>
        <p:spPr>
          <a:xfrm>
            <a:off x="7955279" y="4343400"/>
            <a:ext cx="35204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955279" y="4343400"/>
            <a:ext cx="82296" cy="114300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56448" y="4489704"/>
            <a:ext cx="31363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Outputs</a:t>
            </a:r>
          </a:p>
        </p:txBody>
      </p:sp>
      <p:sp>
        <p:nvSpPr>
          <p:cNvPr id="20" name="TextBox 19"/>
          <p:cNvSpPr txBox="1"/>
          <p:nvPr/>
        </p:nvSpPr>
        <p:spPr>
          <a:xfrm>
            <a:off x="8156448" y="4910328"/>
            <a:ext cx="3136392" cy="4846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Final populations P₀, P₁, P₂ and the final state vector.</a:t>
            </a:r>
          </a:p>
        </p:txBody>
      </p:sp>
      <p:sp>
        <p:nvSpPr>
          <p:cNvPr id="21" name="TextBox 20"/>
          <p:cNvSpPr txBox="1"/>
          <p:nvPr/>
        </p:nvSpPr>
        <p:spPr>
          <a:xfrm>
            <a:off x="822960" y="6080760"/>
            <a:ext cx="10515600" cy="228600"/>
          </a:xfrm>
          <a:prstGeom prst="rect">
            <a:avLst/>
          </a:prstGeom>
          <a:noFill/>
        </p:spPr>
        <p:txBody>
          <a:bodyPr wrap="square" lIns="73152" tIns="73152" rIns="73152" bIns="73152" anchor="t">
            <a:spAutoFit/>
          </a:bodyPr>
          <a:lstStyle/>
          <a:p>
            <a:pPr>
              <a:spcAft>
                <a:spcPts val="600"/>
              </a:spcAft>
              <a:defRPr sz="1100" b="0">
                <a:solidFill>
                  <a:srgbClr val="5C687A"/>
                </a:solidFill>
                <a:latin typeface="Aptos"/>
              </a:defRPr>
            </a:pPr>
            <a:r>
              <a:t>This is a schematic reading guide, not a guaranteed line-for-line copy of the notebook.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PYTHON CODE</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What does self.run_experiment(...) do?</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09</a:t>
            </a:r>
          </a:p>
        </p:txBody>
      </p:sp>
      <p:sp>
        <p:nvSpPr>
          <p:cNvPr id="7" name="TextBox 6"/>
          <p:cNvSpPr txBox="1"/>
          <p:nvPr/>
        </p:nvSpPr>
        <p:spPr>
          <a:xfrm>
            <a:off x="685800" y="1508760"/>
            <a:ext cx="10698480" cy="502920"/>
          </a:xfrm>
          <a:prstGeom prst="rect">
            <a:avLst/>
          </a:prstGeom>
          <a:noFill/>
        </p:spPr>
        <p:txBody>
          <a:bodyPr wrap="square" lIns="73152" tIns="73152" rIns="73152" bIns="73152" anchor="t">
            <a:spAutoFit/>
          </a:bodyPr>
          <a:lstStyle/>
          <a:p>
            <a:pPr>
              <a:spcAft>
                <a:spcPts val="600"/>
              </a:spcAft>
              <a:defRPr sz="1800" b="0">
                <a:solidFill>
                  <a:srgbClr val="27303E"/>
                </a:solidFill>
                <a:latin typeface="Aptos"/>
              </a:defRPr>
            </a:pPr>
            <a:r>
              <a:t>It is a wrapper that runs a pulse experiment and turns the simulator result into a measurement-like result.</a:t>
            </a:r>
          </a:p>
        </p:txBody>
      </p:sp>
      <p:sp>
        <p:nvSpPr>
          <p:cNvPr id="8" name="Rounded Rectangle 7"/>
          <p:cNvSpPr/>
          <p:nvPr/>
        </p:nvSpPr>
        <p:spPr>
          <a:xfrm>
            <a:off x="777240" y="2240280"/>
            <a:ext cx="5760720" cy="141732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2359152"/>
            <a:ext cx="5431536" cy="1179576"/>
          </a:xfrm>
          <a:prstGeom prst="rect">
            <a:avLst/>
          </a:prstGeom>
          <a:noFill/>
        </p:spPr>
        <p:txBody>
          <a:bodyPr wrap="square" lIns="73152" tIns="73152" rIns="73152" bIns="73152" anchor="t">
            <a:spAutoFit/>
          </a:bodyPr>
          <a:lstStyle/>
          <a:p>
            <a:pPr>
              <a:spcAft>
                <a:spcPts val="600"/>
              </a:spcAft>
              <a:defRPr sz="1500" b="0">
                <a:solidFill>
                  <a:srgbClr val="E4EFF9"/>
                </a:solidFill>
                <a:latin typeface="Consolas"/>
              </a:defRPr>
            </a:pPr>
            <a:r>
              <a:t>p1, other_result, shots = self.run_experiment(</a:t>
            </a:r>
          </a:p>
          <a:p>
            <a:pPr>
              <a:spcAft>
                <a:spcPts val="600"/>
              </a:spcAft>
              <a:defRPr sz="1500" b="0">
                <a:solidFill>
                  <a:srgbClr val="E4EFF9"/>
                </a:solidFill>
                <a:latin typeface="Consolas"/>
              </a:defRPr>
            </a:pPr>
            <a:r>
              <a:t>    lambda: self.sim_func(amp=amp),</a:t>
            </a:r>
          </a:p>
          <a:p>
            <a:pPr>
              <a:spcAft>
                <a:spcPts val="600"/>
              </a:spcAft>
              <a:defRPr sz="1500" b="0">
                <a:solidFill>
                  <a:srgbClr val="E4EFF9"/>
                </a:solidFill>
                <a:latin typeface="Consolas"/>
              </a:defRPr>
            </a:pPr>
            <a:r>
              <a:t>    shots_per_point</a:t>
            </a:r>
          </a:p>
          <a:p>
            <a:pPr>
              <a:spcAft>
                <a:spcPts val="600"/>
              </a:spcAft>
              <a:defRPr sz="1500" b="0">
                <a:solidFill>
                  <a:srgbClr val="E4EFF9"/>
                </a:solidFill>
                <a:latin typeface="Consolas"/>
              </a:defRPr>
            </a:pPr>
            <a:r>
              <a:t>)</a:t>
            </a:r>
          </a:p>
        </p:txBody>
      </p:sp>
      <p:sp>
        <p:nvSpPr>
          <p:cNvPr id="10" name="TextBox 9"/>
          <p:cNvSpPr txBox="1"/>
          <p:nvPr/>
        </p:nvSpPr>
        <p:spPr>
          <a:xfrm>
            <a:off x="6903720" y="2057400"/>
            <a:ext cx="4480560" cy="2926080"/>
          </a:xfrm>
          <a:prstGeom prst="rect">
            <a:avLst/>
          </a:prstGeom>
          <a:noFill/>
        </p:spPr>
        <p:txBody>
          <a:bodyPr wrap="square" lIns="109728" tIns="73152" rIns="73152">
            <a:spAutoFit/>
          </a:bodyPr>
          <a:lstStyle/>
          <a:p>
            <a:pPr>
              <a:spcAft>
                <a:spcPts val="700"/>
              </a:spcAft>
              <a:defRPr sz="1500">
                <a:solidFill>
                  <a:srgbClr val="27303E"/>
                </a:solidFill>
                <a:latin typeface="Aptos"/>
              </a:defRPr>
            </a:pPr>
            <a:r>
              <a:t>•  lambda: ... supplies the experiment to execute; it lets the wrapper call it when needed.</a:t>
            </a:r>
          </a:p>
          <a:p>
            <a:pPr>
              <a:spcAft>
                <a:spcPts val="700"/>
              </a:spcAft>
              <a:defRPr sz="1500">
                <a:solidFill>
                  <a:srgbClr val="27303E"/>
                </a:solidFill>
                <a:latin typeface="Aptos"/>
              </a:defRPr>
            </a:pPr>
            <a:r>
              <a:t>•  self.sim_func(amp=amp) simulates the pulse at the current candidate amplitude.</a:t>
            </a:r>
          </a:p>
          <a:p>
            <a:pPr>
              <a:spcAft>
                <a:spcPts val="700"/>
              </a:spcAft>
              <a:defRPr sz="1500">
                <a:solidFill>
                  <a:srgbClr val="27303E"/>
                </a:solidFill>
                <a:latin typeface="Aptos"/>
              </a:defRPr>
            </a:pPr>
            <a:r>
              <a:t>•  shots_per_point is the number of repeated measurement trials at this setting.</a:t>
            </a:r>
          </a:p>
          <a:p>
            <a:pPr>
              <a:spcAft>
                <a:spcPts val="700"/>
              </a:spcAft>
              <a:defRPr sz="1500">
                <a:solidFill>
                  <a:srgbClr val="27303E"/>
                </a:solidFill>
                <a:latin typeface="Aptos"/>
              </a:defRPr>
            </a:pPr>
            <a:r>
              <a:t>•  The wrapper typically returns an estimated outcome probability, any extra result, and the number of shots used.</a:t>
            </a:r>
          </a:p>
        </p:txBody>
      </p:sp>
      <p:sp>
        <p:nvSpPr>
          <p:cNvPr id="11" name="Rounded Rectangle 10"/>
          <p:cNvSpPr/>
          <p:nvPr/>
        </p:nvSpPr>
        <p:spPr>
          <a:xfrm>
            <a:off x="822960" y="4160520"/>
            <a:ext cx="5669280" cy="914400"/>
          </a:xfrm>
          <a:prstGeom prst="roundRect">
            <a:avLst/>
          </a:prstGeom>
          <a:solidFill>
            <a:srgbClr val="D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4370832"/>
            <a:ext cx="5303520" cy="502920"/>
          </a:xfrm>
          <a:prstGeom prst="rect">
            <a:avLst/>
          </a:prstGeom>
          <a:noFill/>
        </p:spPr>
        <p:txBody>
          <a:bodyPr wrap="square" lIns="73152" tIns="73152" rIns="73152" bIns="73152" anchor="t">
            <a:spAutoFit/>
          </a:bodyPr>
          <a:lstStyle/>
          <a:p>
            <a:pPr>
              <a:spcAft>
                <a:spcPts val="600"/>
              </a:spcAft>
              <a:defRPr sz="1400" b="1">
                <a:solidFill>
                  <a:srgbClr val="009691"/>
                </a:solidFill>
                <a:latin typeface="Aptos"/>
              </a:defRPr>
            </a:pPr>
            <a:r>
              <a:t>Important: the exact meaning of the second return value depends on your run_experiment definition.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CALIBRATION</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Task 2(a): calibrating the π-pulse amplitude</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10</a:t>
            </a:r>
          </a:p>
        </p:txBody>
      </p:sp>
      <p:sp>
        <p:nvSpPr>
          <p:cNvPr id="7" name="TextBox 6"/>
          <p:cNvSpPr txBox="1"/>
          <p:nvPr/>
        </p:nvSpPr>
        <p:spPr>
          <a:xfrm>
            <a:off x="685800" y="1463040"/>
            <a:ext cx="10789920" cy="502920"/>
          </a:xfrm>
          <a:prstGeom prst="rect">
            <a:avLst/>
          </a:prstGeom>
          <a:noFill/>
        </p:spPr>
        <p:txBody>
          <a:bodyPr wrap="square" lIns="73152" tIns="73152" rIns="73152" bIns="73152" anchor="t">
            <a:spAutoFit/>
          </a:bodyPr>
          <a:lstStyle/>
          <a:p>
            <a:pPr>
              <a:spcAft>
                <a:spcPts val="600"/>
              </a:spcAft>
              <a:defRPr sz="1800" b="0">
                <a:solidFill>
                  <a:srgbClr val="27303E"/>
                </a:solidFill>
                <a:latin typeface="Aptos"/>
              </a:defRPr>
            </a:pPr>
            <a:r>
              <a:t>Goal: find the amplitude that gives the desired π rotation, ideally moving |0⟩ → |1⟩.</a:t>
            </a:r>
          </a:p>
        </p:txBody>
      </p:sp>
      <p:sp>
        <p:nvSpPr>
          <p:cNvPr id="8" name="Rounded Rectangle 7"/>
          <p:cNvSpPr/>
          <p:nvPr/>
        </p:nvSpPr>
        <p:spPr>
          <a:xfrm>
            <a:off x="685800" y="2148840"/>
            <a:ext cx="338328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2148840"/>
            <a:ext cx="82296" cy="214884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2295144"/>
            <a:ext cx="299923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1. Coarse scan</a:t>
            </a:r>
          </a:p>
        </p:txBody>
      </p:sp>
      <p:sp>
        <p:nvSpPr>
          <p:cNvPr id="11" name="TextBox 10"/>
          <p:cNvSpPr txBox="1"/>
          <p:nvPr/>
        </p:nvSpPr>
        <p:spPr>
          <a:xfrm>
            <a:off x="886968" y="2715768"/>
            <a:ext cx="2999232" cy="14904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Try a range of amplitudes, for example 0 to 2, and measure P₁ for each.</a:t>
            </a:r>
          </a:p>
        </p:txBody>
      </p:sp>
      <p:sp>
        <p:nvSpPr>
          <p:cNvPr id="12" name="Rounded Rectangle 11"/>
          <p:cNvSpPr/>
          <p:nvPr/>
        </p:nvSpPr>
        <p:spPr>
          <a:xfrm>
            <a:off x="4389120" y="2148840"/>
            <a:ext cx="338328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2148840"/>
            <a:ext cx="82296" cy="214884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0288" y="2295144"/>
            <a:ext cx="299923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2. Fine scan</a:t>
            </a:r>
          </a:p>
        </p:txBody>
      </p:sp>
      <p:sp>
        <p:nvSpPr>
          <p:cNvPr id="15" name="TextBox 14"/>
          <p:cNvSpPr txBox="1"/>
          <p:nvPr/>
        </p:nvSpPr>
        <p:spPr>
          <a:xfrm>
            <a:off x="4590288" y="2715768"/>
            <a:ext cx="2999232" cy="14904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Focus on the best region. Error amplification (e.g. repeated pulses) makes small amplitude errors easier to detect.</a:t>
            </a:r>
          </a:p>
        </p:txBody>
      </p:sp>
      <p:sp>
        <p:nvSpPr>
          <p:cNvPr id="16" name="Rounded Rectangle 15"/>
          <p:cNvSpPr/>
          <p:nvPr/>
        </p:nvSpPr>
        <p:spPr>
          <a:xfrm>
            <a:off x="8092440" y="2148840"/>
            <a:ext cx="338328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92440" y="2148840"/>
            <a:ext cx="82296" cy="214884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3608" y="2295144"/>
            <a:ext cx="299923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3. Choose</a:t>
            </a:r>
          </a:p>
        </p:txBody>
      </p:sp>
      <p:sp>
        <p:nvSpPr>
          <p:cNvPr id="19" name="TextBox 18"/>
          <p:cNvSpPr txBox="1"/>
          <p:nvPr/>
        </p:nvSpPr>
        <p:spPr>
          <a:xfrm>
            <a:off x="8293608" y="2715768"/>
            <a:ext cx="2999232" cy="14904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Select the amplitude with the largest measured P₁, while checking leakage and uncertainty.</a:t>
            </a:r>
          </a:p>
        </p:txBody>
      </p:sp>
      <p:sp>
        <p:nvSpPr>
          <p:cNvPr id="20" name="Rounded Rectangle 19"/>
          <p:cNvSpPr/>
          <p:nvPr/>
        </p:nvSpPr>
        <p:spPr>
          <a:xfrm>
            <a:off x="914400" y="4709160"/>
            <a:ext cx="10442448" cy="164592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78992" y="4828032"/>
            <a:ext cx="9957816" cy="1455783"/>
          </a:xfrm>
          <a:prstGeom prst="rect">
            <a:avLst/>
          </a:prstGeom>
          <a:noFill/>
        </p:spPr>
        <p:txBody>
          <a:bodyPr wrap="square" lIns="73152" tIns="73152" rIns="73152" bIns="73152" anchor="t">
            <a:spAutoFit/>
          </a:bodyPr>
          <a:lstStyle/>
          <a:p>
            <a:pPr>
              <a:spcAft>
                <a:spcPts val="600"/>
              </a:spcAft>
              <a:defRPr sz="1300" b="0">
                <a:solidFill>
                  <a:srgbClr val="E4EFF9"/>
                </a:solidFill>
                <a:latin typeface="Consolas"/>
              </a:defRPr>
            </a:pPr>
            <a:r>
              <a:t>amps = np.linspace(0.0, 2.0, 21)</a:t>
            </a:r>
          </a:p>
          <a:p>
            <a:pPr>
              <a:spcAft>
                <a:spcPts val="600"/>
              </a:spcAft>
              <a:defRPr sz="1300" b="0">
                <a:solidFill>
                  <a:srgbClr val="E4EFF9"/>
                </a:solidFill>
                <a:latin typeface="Consolas"/>
              </a:defRPr>
            </a:pPr>
            <a:r>
              <a:t>for amp in amps:</a:t>
            </a:r>
          </a:p>
          <a:p>
            <a:pPr>
              <a:spcAft>
                <a:spcPts val="600"/>
              </a:spcAft>
              <a:defRPr sz="1300" b="0">
                <a:solidFill>
                  <a:srgbClr val="E4EFF9"/>
                </a:solidFill>
                <a:latin typeface="Consolas"/>
              </a:defRPr>
            </a:pPr>
            <a:r>
              <a:t>    p1, _, shots = run_experiment(...)</a:t>
            </a:r>
          </a:p>
          <a:p>
            <a:pPr>
              <a:spcAft>
                <a:spcPts val="600"/>
              </a:spcAft>
              <a:defRPr sz="1300" b="0">
                <a:solidFill>
                  <a:srgbClr val="E4EFF9"/>
                </a:solidFill>
                <a:latin typeface="Consolas"/>
              </a:defRPr>
            </a:pPr>
            <a:r>
              <a:t>    p1_measured.append(p1)</a:t>
            </a:r>
          </a:p>
          <a:p>
            <a:pPr>
              <a:spcAft>
                <a:spcPts val="600"/>
              </a:spcAft>
              <a:defRPr sz="1300" b="0">
                <a:solidFill>
                  <a:srgbClr val="E4EFF9"/>
                </a:solidFill>
                <a:latin typeface="Consolas"/>
              </a:defRPr>
            </a:pPr>
            <a:r>
              <a:t>optimal_amp = amps[np.argmax(p1_measured)]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CALIBRATION</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Task 2(b): frequency calibration with Ramsey</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11</a:t>
            </a:r>
          </a:p>
        </p:txBody>
      </p:sp>
      <p:sp>
        <p:nvSpPr>
          <p:cNvPr id="7" name="TextBox 6"/>
          <p:cNvSpPr txBox="1"/>
          <p:nvPr/>
        </p:nvSpPr>
        <p:spPr>
          <a:xfrm>
            <a:off x="685800" y="1463040"/>
            <a:ext cx="10789920" cy="594360"/>
          </a:xfrm>
          <a:prstGeom prst="rect">
            <a:avLst/>
          </a:prstGeom>
          <a:noFill/>
        </p:spPr>
        <p:txBody>
          <a:bodyPr wrap="square" lIns="73152" tIns="73152" rIns="73152" bIns="73152" anchor="t">
            <a:spAutoFit/>
          </a:bodyPr>
          <a:lstStyle/>
          <a:p>
            <a:pPr>
              <a:spcAft>
                <a:spcPts val="600"/>
              </a:spcAft>
              <a:defRPr sz="1700" b="0">
                <a:solidFill>
                  <a:srgbClr val="27303E"/>
                </a:solidFill>
                <a:latin typeface="Aptos"/>
              </a:defRPr>
            </a:pPr>
            <a:r>
              <a:t>Ramsey converts a frequency mismatch into a measurable oscillation as we vary the free-precession delay τ.</a:t>
            </a:r>
          </a:p>
        </p:txBody>
      </p:sp>
      <p:sp>
        <p:nvSpPr>
          <p:cNvPr id="8" name="Rounded Rectangle 7"/>
          <p:cNvSpPr/>
          <p:nvPr/>
        </p:nvSpPr>
        <p:spPr>
          <a:xfrm>
            <a:off x="777240" y="2240280"/>
            <a:ext cx="10561320" cy="1097280"/>
          </a:xfrm>
          <a:prstGeom prst="roundRect">
            <a:avLst/>
          </a:prstGeom>
          <a:solidFill>
            <a:srgbClr val="E8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2542032"/>
            <a:ext cx="9966960" cy="365760"/>
          </a:xfrm>
          <a:prstGeom prst="rect">
            <a:avLst/>
          </a:prstGeom>
          <a:noFill/>
        </p:spPr>
        <p:txBody>
          <a:bodyPr wrap="square" lIns="73152" tIns="73152" rIns="73152" bIns="73152" anchor="t">
            <a:spAutoFit/>
          </a:bodyPr>
          <a:lstStyle/>
          <a:p>
            <a:pPr algn="ctr">
              <a:spcAft>
                <a:spcPts val="600"/>
              </a:spcAft>
              <a:defRPr sz="2100" b="1">
                <a:solidFill>
                  <a:srgbClr val="2B5BA6"/>
                </a:solidFill>
                <a:latin typeface="Aptos"/>
              </a:defRPr>
            </a:pPr>
            <a:r>
              <a:t>Prepare superposition  →  wait τ  →  recombine / measure</a:t>
            </a:r>
          </a:p>
        </p:txBody>
      </p:sp>
      <p:sp>
        <p:nvSpPr>
          <p:cNvPr id="10" name="Rounded Rectangle 9"/>
          <p:cNvSpPr/>
          <p:nvPr/>
        </p:nvSpPr>
        <p:spPr>
          <a:xfrm>
            <a:off x="914400" y="3657600"/>
            <a:ext cx="4983480" cy="123444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3776472"/>
            <a:ext cx="4654296" cy="996696"/>
          </a:xfrm>
          <a:prstGeom prst="rect">
            <a:avLst/>
          </a:prstGeom>
          <a:noFill/>
        </p:spPr>
        <p:txBody>
          <a:bodyPr wrap="square" lIns="73152" tIns="73152" rIns="73152" bIns="73152" anchor="t">
            <a:spAutoFit/>
          </a:bodyPr>
          <a:lstStyle/>
          <a:p>
            <a:pPr>
              <a:spcAft>
                <a:spcPts val="600"/>
              </a:spcAft>
              <a:defRPr sz="1600" b="0">
                <a:solidFill>
                  <a:srgbClr val="E4EFF9"/>
                </a:solidFill>
                <a:latin typeface="Consolas"/>
              </a:defRPr>
            </a:pPr>
            <a:r>
              <a:t>P(1 | Δf, τ) = ½ [1 + cos(2π Δf τ)]</a:t>
            </a:r>
          </a:p>
          <a:p>
            <a:pPr>
              <a:spcAft>
                <a:spcPts val="600"/>
              </a:spcAft>
              <a:defRPr sz="1600" b="0">
                <a:solidFill>
                  <a:srgbClr val="E4EFF9"/>
                </a:solidFill>
                <a:latin typeface="Consolas"/>
              </a:defRPr>
            </a:pPr>
            <a:r>
              <a:t>P(0 | Δf, τ) = 1 − P(1 | Δf, τ)</a:t>
            </a:r>
          </a:p>
        </p:txBody>
      </p:sp>
      <p:sp>
        <p:nvSpPr>
          <p:cNvPr id="12" name="TextBox 11"/>
          <p:cNvSpPr txBox="1"/>
          <p:nvPr/>
        </p:nvSpPr>
        <p:spPr>
          <a:xfrm>
            <a:off x="6263640" y="3657600"/>
            <a:ext cx="4937760" cy="1600200"/>
          </a:xfrm>
          <a:prstGeom prst="rect">
            <a:avLst/>
          </a:prstGeom>
          <a:noFill/>
        </p:spPr>
        <p:txBody>
          <a:bodyPr wrap="square" lIns="109728" tIns="73152" rIns="73152">
            <a:spAutoFit/>
          </a:bodyPr>
          <a:lstStyle/>
          <a:p>
            <a:pPr>
              <a:spcAft>
                <a:spcPts val="700"/>
              </a:spcAft>
              <a:defRPr sz="1500">
                <a:solidFill>
                  <a:srgbClr val="27303E"/>
                </a:solidFill>
                <a:latin typeface="Aptos"/>
              </a:defRPr>
            </a:pPr>
            <a:r>
              <a:t>•  Δf is the unknown frequency offset.</a:t>
            </a:r>
          </a:p>
          <a:p>
            <a:pPr>
              <a:spcAft>
                <a:spcPts val="700"/>
              </a:spcAft>
              <a:defRPr sz="1500">
                <a:solidFill>
                  <a:srgbClr val="27303E"/>
                </a:solidFill>
                <a:latin typeface="Aptos"/>
              </a:defRPr>
            </a:pPr>
            <a:r>
              <a:t>•  Longer τ can make small offsets easier to see, but oscillations repeat (aliasing).</a:t>
            </a:r>
          </a:p>
          <a:p>
            <a:pPr>
              <a:spcAft>
                <a:spcPts val="700"/>
              </a:spcAft>
              <a:defRPr sz="1500">
                <a:solidFill>
                  <a:srgbClr val="27303E"/>
                </a:solidFill>
                <a:latin typeface="Aptos"/>
              </a:defRPr>
            </a:pPr>
            <a:r>
              <a:t>•  The sign can be ambiguous from one delay alone; use multiple delays or a prior.</a:t>
            </a:r>
          </a:p>
        </p:txBody>
      </p:sp>
      <p:sp>
        <p:nvSpPr>
          <p:cNvPr id="13" name="TextBox 12"/>
          <p:cNvSpPr txBox="1"/>
          <p:nvPr/>
        </p:nvSpPr>
        <p:spPr>
          <a:xfrm>
            <a:off x="914400" y="5623560"/>
            <a:ext cx="10424160" cy="411480"/>
          </a:xfrm>
          <a:prstGeom prst="rect">
            <a:avLst/>
          </a:prstGeom>
          <a:noFill/>
        </p:spPr>
        <p:txBody>
          <a:bodyPr wrap="square" lIns="73152" tIns="73152" rIns="73152" bIns="73152" anchor="t">
            <a:spAutoFit/>
          </a:bodyPr>
          <a:lstStyle/>
          <a:p>
            <a:pPr algn="ctr">
              <a:spcAft>
                <a:spcPts val="600"/>
              </a:spcAft>
              <a:defRPr sz="1400" b="0">
                <a:solidFill>
                  <a:srgbClr val="5C687A"/>
                </a:solidFill>
                <a:latin typeface="Aptos"/>
              </a:defRPr>
            </a:pPr>
            <a:r>
              <a:t>The Hadamard-like rotations prepare and read out interference; the waiting period lets the phase difference accumulate.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ADAPTIVE CALIBRATION</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Likelihood vs posterior: two different jobs</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12</a:t>
            </a:r>
          </a:p>
        </p:txBody>
      </p:sp>
      <p:sp>
        <p:nvSpPr>
          <p:cNvPr id="7" name="Rounded Rectangle 6"/>
          <p:cNvSpPr/>
          <p:nvPr/>
        </p:nvSpPr>
        <p:spPr>
          <a:xfrm>
            <a:off x="685800" y="1645920"/>
            <a:ext cx="525780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45920"/>
            <a:ext cx="82296" cy="329184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792224"/>
            <a:ext cx="48737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get_likelihood(outcome, τ, df_grid)</a:t>
            </a:r>
          </a:p>
        </p:txBody>
      </p:sp>
      <p:sp>
        <p:nvSpPr>
          <p:cNvPr id="10" name="TextBox 9"/>
          <p:cNvSpPr txBox="1"/>
          <p:nvPr/>
        </p:nvSpPr>
        <p:spPr>
          <a:xfrm>
            <a:off x="886968" y="2212848"/>
            <a:ext cx="4873752" cy="26334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Question it answers:</a:t>
            </a:r>
          </a:p>
          <a:p>
            <a:pPr>
              <a:spcAft>
                <a:spcPts val="600"/>
              </a:spcAft>
              <a:defRPr sz="1500" b="0">
                <a:solidFill>
                  <a:srgbClr val="27303E"/>
                </a:solidFill>
                <a:latin typeface="Aptos"/>
              </a:defRPr>
            </a:pPr>
            <a:r>
              <a:t>“If the true detuning were each candidate value on df_grid, how likely is this observed 0 or 1?”</a:t>
            </a:r>
          </a:p>
          <a:p>
            <a:pPr>
              <a:spcAft>
                <a:spcPts val="600"/>
              </a:spcAft>
              <a:defRPr sz="1500" b="0">
                <a:solidFill>
                  <a:srgbClr val="27303E"/>
                </a:solidFill>
                <a:latin typeface="Aptos"/>
              </a:defRPr>
            </a:pPr>
            <a:endParaRPr/>
          </a:p>
          <a:p>
            <a:pPr>
              <a:spcAft>
                <a:spcPts val="600"/>
              </a:spcAft>
              <a:defRPr sz="1500" b="0">
                <a:solidFill>
                  <a:srgbClr val="27303E"/>
                </a:solidFill>
                <a:latin typeface="Aptos"/>
              </a:defRPr>
            </a:pPr>
            <a:r>
              <a:t>It evaluates the Ramsey probability for every candidate detuning and returns the probability of the observed outcome.</a:t>
            </a:r>
          </a:p>
        </p:txBody>
      </p:sp>
      <p:sp>
        <p:nvSpPr>
          <p:cNvPr id="11" name="Rounded Rectangle 10"/>
          <p:cNvSpPr/>
          <p:nvPr/>
        </p:nvSpPr>
        <p:spPr>
          <a:xfrm>
            <a:off x="6217920" y="1645920"/>
            <a:ext cx="525780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645920"/>
            <a:ext cx="82296" cy="329184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792224"/>
            <a:ext cx="48737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update_posterior(...)</a:t>
            </a:r>
          </a:p>
        </p:txBody>
      </p:sp>
      <p:sp>
        <p:nvSpPr>
          <p:cNvPr id="14" name="TextBox 13"/>
          <p:cNvSpPr txBox="1"/>
          <p:nvPr/>
        </p:nvSpPr>
        <p:spPr>
          <a:xfrm>
            <a:off x="6419088" y="2212848"/>
            <a:ext cx="4873752" cy="26334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Question it answers:</a:t>
            </a:r>
          </a:p>
          <a:p>
            <a:pPr>
              <a:spcAft>
                <a:spcPts val="600"/>
              </a:spcAft>
              <a:defRPr sz="1500" b="0">
                <a:solidFill>
                  <a:srgbClr val="27303E"/>
                </a:solidFill>
                <a:latin typeface="Aptos"/>
              </a:defRPr>
            </a:pPr>
            <a:r>
              <a:t>“After seeing this result, how plausible is each candidate detuning now?”</a:t>
            </a:r>
          </a:p>
          <a:p>
            <a:pPr>
              <a:spcAft>
                <a:spcPts val="600"/>
              </a:spcAft>
              <a:defRPr sz="1500" b="0">
                <a:solidFill>
                  <a:srgbClr val="27303E"/>
                </a:solidFill>
                <a:latin typeface="Aptos"/>
              </a:defRPr>
            </a:pPr>
            <a:endParaRPr/>
          </a:p>
          <a:p>
            <a:pPr>
              <a:spcAft>
                <a:spcPts val="600"/>
              </a:spcAft>
              <a:defRPr sz="1500" b="0">
                <a:solidFill>
                  <a:srgbClr val="27303E"/>
                </a:solidFill>
                <a:latin typeface="Aptos"/>
              </a:defRPr>
            </a:pPr>
            <a:r>
              <a:t>Bayes' rule multiplies prior belief by the likelihood and normalises the result.</a:t>
            </a:r>
          </a:p>
        </p:txBody>
      </p:sp>
      <p:sp>
        <p:nvSpPr>
          <p:cNvPr id="15" name="Rounded Rectangle 14"/>
          <p:cNvSpPr/>
          <p:nvPr/>
        </p:nvSpPr>
        <p:spPr>
          <a:xfrm>
            <a:off x="1143000" y="5303520"/>
            <a:ext cx="9875520" cy="77724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07592" y="5422392"/>
            <a:ext cx="9546336" cy="539496"/>
          </a:xfrm>
          <a:prstGeom prst="rect">
            <a:avLst/>
          </a:prstGeom>
          <a:noFill/>
        </p:spPr>
        <p:txBody>
          <a:bodyPr wrap="square" lIns="73152" tIns="73152" rIns="73152" bIns="73152" anchor="t">
            <a:spAutoFit/>
          </a:bodyPr>
          <a:lstStyle/>
          <a:p>
            <a:pPr>
              <a:spcAft>
                <a:spcPts val="600"/>
              </a:spcAft>
              <a:defRPr sz="1500" b="0">
                <a:solidFill>
                  <a:srgbClr val="E4EFF9"/>
                </a:solidFill>
                <a:latin typeface="Consolas"/>
              </a:defRPr>
            </a:pPr>
            <a:r>
              <a:t>posterior_new ∝ likelihood × posterior_old</a:t>
            </a:r>
          </a:p>
          <a:p>
            <a:pPr>
              <a:spcAft>
                <a:spcPts val="600"/>
              </a:spcAft>
              <a:defRPr sz="1500" b="0">
                <a:solidFill>
                  <a:srgbClr val="E4EFF9"/>
                </a:solidFill>
                <a:latin typeface="Consolas"/>
              </a:defRPr>
            </a:pPr>
            <a:r>
              <a:t>posterior_new = posterior_new / sum(posterior_new)</a:t>
            </a:r>
          </a:p>
        </p:txBody>
      </p:sp>
      <p:sp>
        <p:nvSpPr>
          <p:cNvPr id="17" name="TextBox 16"/>
          <p:cNvSpPr txBox="1"/>
          <p:nvPr/>
        </p:nvSpPr>
        <p:spPr>
          <a:xfrm>
            <a:off x="914400" y="6172200"/>
            <a:ext cx="10332720" cy="228600"/>
          </a:xfrm>
          <a:prstGeom prst="rect">
            <a:avLst/>
          </a:prstGeom>
          <a:noFill/>
        </p:spPr>
        <p:txBody>
          <a:bodyPr wrap="square" lIns="73152" tIns="73152" rIns="73152" bIns="73152" anchor="t">
            <a:spAutoFit/>
          </a:bodyPr>
          <a:lstStyle/>
          <a:p>
            <a:pPr algn="ctr">
              <a:spcAft>
                <a:spcPts val="600"/>
              </a:spcAft>
              <a:defRPr sz="1300" b="1">
                <a:solidFill>
                  <a:srgbClr val="162745"/>
                </a:solidFill>
                <a:latin typeface="Aptos"/>
              </a:defRPr>
            </a:pPr>
            <a:r>
              <a:t>Likelihood scores a possible explanation; posterior is our updated distribution over explanations.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ADAPTIVE CALIBRATION</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Why does select_next_tau choose a delay?</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13</a:t>
            </a:r>
          </a:p>
        </p:txBody>
      </p:sp>
      <p:sp>
        <p:nvSpPr>
          <p:cNvPr id="7" name="TextBox 6"/>
          <p:cNvSpPr txBox="1"/>
          <p:nvPr/>
        </p:nvSpPr>
        <p:spPr>
          <a:xfrm>
            <a:off x="685800" y="1463040"/>
            <a:ext cx="10789920" cy="502920"/>
          </a:xfrm>
          <a:prstGeom prst="rect">
            <a:avLst/>
          </a:prstGeom>
          <a:noFill/>
        </p:spPr>
        <p:txBody>
          <a:bodyPr wrap="square" lIns="73152" tIns="73152" rIns="73152" bIns="73152" anchor="t">
            <a:spAutoFit/>
          </a:bodyPr>
          <a:lstStyle/>
          <a:p>
            <a:pPr>
              <a:spcAft>
                <a:spcPts val="600"/>
              </a:spcAft>
              <a:defRPr sz="1800" b="0">
                <a:solidFill>
                  <a:srgbClr val="27303E"/>
                </a:solidFill>
                <a:latin typeface="Aptos"/>
              </a:defRPr>
            </a:pPr>
            <a:r>
              <a:t>Instead of testing every delay in a dense grid, choose the next delay expected to teach us the most.</a:t>
            </a:r>
          </a:p>
        </p:txBody>
      </p:sp>
      <p:sp>
        <p:nvSpPr>
          <p:cNvPr id="8" name="Rounded Rectangle 7"/>
          <p:cNvSpPr/>
          <p:nvPr/>
        </p:nvSpPr>
        <p:spPr>
          <a:xfrm>
            <a:off x="685800" y="2148840"/>
            <a:ext cx="338328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2148840"/>
            <a:ext cx="82296" cy="228600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2295144"/>
            <a:ext cx="299923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1. Current uncertainty</a:t>
            </a:r>
          </a:p>
        </p:txBody>
      </p:sp>
      <p:sp>
        <p:nvSpPr>
          <p:cNvPr id="11" name="TextBox 10"/>
          <p:cNvSpPr txBox="1"/>
          <p:nvPr/>
        </p:nvSpPr>
        <p:spPr>
          <a:xfrm>
            <a:off x="886968" y="2715768"/>
            <a:ext cx="2999232" cy="162763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Calculate posterior entropy. A broad posterior means we are uncertain about detuning.</a:t>
            </a:r>
          </a:p>
        </p:txBody>
      </p:sp>
      <p:sp>
        <p:nvSpPr>
          <p:cNvPr id="12" name="Rounded Rectangle 11"/>
          <p:cNvSpPr/>
          <p:nvPr/>
        </p:nvSpPr>
        <p:spPr>
          <a:xfrm>
            <a:off x="4389120" y="2148840"/>
            <a:ext cx="338328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2148840"/>
            <a:ext cx="82296" cy="228600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0288" y="2295144"/>
            <a:ext cx="299923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2. Try candidate τ</a:t>
            </a:r>
          </a:p>
        </p:txBody>
      </p:sp>
      <p:sp>
        <p:nvSpPr>
          <p:cNvPr id="15" name="TextBox 14"/>
          <p:cNvSpPr txBox="1"/>
          <p:nvPr/>
        </p:nvSpPr>
        <p:spPr>
          <a:xfrm>
            <a:off x="4590288" y="2715768"/>
            <a:ext cx="2999232" cy="162763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Predict the probability of outcomes 0 and 1 for each candidate delay, averaged over the current posterior.</a:t>
            </a:r>
          </a:p>
        </p:txBody>
      </p:sp>
      <p:sp>
        <p:nvSpPr>
          <p:cNvPr id="16" name="Rounded Rectangle 15"/>
          <p:cNvSpPr/>
          <p:nvPr/>
        </p:nvSpPr>
        <p:spPr>
          <a:xfrm>
            <a:off x="8092440" y="2148840"/>
            <a:ext cx="338328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92440" y="2148840"/>
            <a:ext cx="82296" cy="2286000"/>
          </a:xfrm>
          <a:prstGeom prst="rect">
            <a:avLst/>
          </a:prstGeom>
          <a:solidFill>
            <a:srgbClr val="76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3608" y="2295144"/>
            <a:ext cx="299923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3. Expected information gain</a:t>
            </a:r>
          </a:p>
        </p:txBody>
      </p:sp>
      <p:sp>
        <p:nvSpPr>
          <p:cNvPr id="19" name="TextBox 18"/>
          <p:cNvSpPr txBox="1"/>
          <p:nvPr/>
        </p:nvSpPr>
        <p:spPr>
          <a:xfrm>
            <a:off x="8293608" y="2715768"/>
            <a:ext cx="2999232" cy="162763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Estimate how much entropy should fall after the measurement. Pick the τ with the biggest expected reduction.</a:t>
            </a:r>
          </a:p>
        </p:txBody>
      </p:sp>
      <p:sp>
        <p:nvSpPr>
          <p:cNvPr id="20" name="Rounded Rectangle 19"/>
          <p:cNvSpPr/>
          <p:nvPr/>
        </p:nvSpPr>
        <p:spPr>
          <a:xfrm>
            <a:off x="960120" y="4892040"/>
            <a:ext cx="10149840" cy="100584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24712" y="5010912"/>
            <a:ext cx="9820656" cy="768096"/>
          </a:xfrm>
          <a:prstGeom prst="rect">
            <a:avLst/>
          </a:prstGeom>
          <a:noFill/>
        </p:spPr>
        <p:txBody>
          <a:bodyPr wrap="square" lIns="73152" tIns="73152" rIns="73152" bIns="73152" anchor="t">
            <a:spAutoFit/>
          </a:bodyPr>
          <a:lstStyle/>
          <a:p>
            <a:pPr>
              <a:spcAft>
                <a:spcPts val="600"/>
              </a:spcAft>
              <a:defRPr sz="1500" b="0">
                <a:solidFill>
                  <a:srgbClr val="E4EFF9"/>
                </a:solidFill>
                <a:latin typeface="Consolas"/>
              </a:defRPr>
            </a:pPr>
            <a:r>
              <a:t>EIG(τ) = H(current posterior)</a:t>
            </a:r>
          </a:p>
          <a:p>
            <a:pPr>
              <a:spcAft>
                <a:spcPts val="600"/>
              </a:spcAft>
              <a:defRPr sz="1500" b="0">
                <a:solidFill>
                  <a:srgbClr val="E4EFF9"/>
                </a:solidFill>
                <a:latin typeface="Consolas"/>
              </a:defRPr>
            </a:pPr>
            <a:r>
              <a:t>         − expected H(posterior after outcome)</a:t>
            </a:r>
          </a:p>
          <a:p>
            <a:pPr>
              <a:spcAft>
                <a:spcPts val="600"/>
              </a:spcAft>
              <a:defRPr sz="1500" b="0">
                <a:solidFill>
                  <a:srgbClr val="E4EFF9"/>
                </a:solidFill>
                <a:latin typeface="Consolas"/>
              </a:defRPr>
            </a:pPr>
            <a:r>
              <a:t>next_tau = candidate_taus[argmax(EIG)]</a:t>
            </a:r>
          </a:p>
        </p:txBody>
      </p:sp>
      <p:sp>
        <p:nvSpPr>
          <p:cNvPr id="22" name="TextBox 21"/>
          <p:cNvSpPr txBox="1"/>
          <p:nvPr/>
        </p:nvSpPr>
        <p:spPr>
          <a:xfrm>
            <a:off x="914400" y="6080760"/>
            <a:ext cx="10332720" cy="274320"/>
          </a:xfrm>
          <a:prstGeom prst="rect">
            <a:avLst/>
          </a:prstGeom>
          <a:noFill/>
        </p:spPr>
        <p:txBody>
          <a:bodyPr wrap="square" lIns="73152" tIns="73152" rIns="73152" bIns="73152" anchor="t">
            <a:spAutoFit/>
          </a:bodyPr>
          <a:lstStyle/>
          <a:p>
            <a:pPr algn="ctr">
              <a:spcAft>
                <a:spcPts val="600"/>
              </a:spcAft>
              <a:defRPr sz="1400" b="1">
                <a:solidFill>
                  <a:srgbClr val="009691"/>
                </a:solidFill>
                <a:latin typeface="Aptos"/>
              </a:defRPr>
            </a:pPr>
            <a:r>
              <a:t>Adaptive calibration spends shots where they are most informative, rather than wasting shots uniformly.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ADAPTIVE CALIBRATION</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Task 3: how do we prove adaptive calibration helps?</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14</a:t>
            </a:r>
          </a:p>
        </p:txBody>
      </p:sp>
      <p:sp>
        <p:nvSpPr>
          <p:cNvPr id="7" name="TextBox 6"/>
          <p:cNvSpPr txBox="1"/>
          <p:nvPr/>
        </p:nvSpPr>
        <p:spPr>
          <a:xfrm>
            <a:off x="822960" y="1600200"/>
            <a:ext cx="6492240" cy="4206240"/>
          </a:xfrm>
          <a:prstGeom prst="rect">
            <a:avLst/>
          </a:prstGeom>
          <a:noFill/>
        </p:spPr>
        <p:txBody>
          <a:bodyPr wrap="square" lIns="109728" tIns="73152" rIns="73152">
            <a:spAutoFit/>
          </a:bodyPr>
          <a:lstStyle/>
          <a:p>
            <a:pPr>
              <a:spcAft>
                <a:spcPts val="700"/>
              </a:spcAft>
              <a:defRPr sz="1600">
                <a:solidFill>
                  <a:srgbClr val="27303E"/>
                </a:solidFill>
                <a:latin typeface="Aptos"/>
              </a:defRPr>
            </a:pPr>
            <a:r>
              <a:t>•  Start with a prior distribution over possible detunings.</a:t>
            </a:r>
          </a:p>
          <a:p>
            <a:pPr>
              <a:spcAft>
                <a:spcPts val="700"/>
              </a:spcAft>
              <a:defRPr sz="1600">
                <a:solidFill>
                  <a:srgbClr val="27303E"/>
                </a:solidFill>
                <a:latin typeface="Aptos"/>
              </a:defRPr>
            </a:pPr>
            <a:r>
              <a:t>•  At each round, choose τ using select_next_tau().</a:t>
            </a:r>
          </a:p>
          <a:p>
            <a:pPr>
              <a:spcAft>
                <a:spcPts val="700"/>
              </a:spcAft>
              <a:defRPr sz="1600">
                <a:solidFill>
                  <a:srgbClr val="27303E"/>
                </a:solidFill>
                <a:latin typeface="Aptos"/>
              </a:defRPr>
            </a:pPr>
            <a:r>
              <a:t>•  Generate a measurement outcome using the simulated true detuning and shot noise.</a:t>
            </a:r>
          </a:p>
          <a:p>
            <a:pPr>
              <a:spcAft>
                <a:spcPts val="700"/>
              </a:spcAft>
              <a:defRPr sz="1600">
                <a:solidFill>
                  <a:srgbClr val="27303E"/>
                </a:solidFill>
                <a:latin typeface="Aptos"/>
              </a:defRPr>
            </a:pPr>
            <a:r>
              <a:t>•  Use the likelihood to update the posterior.</a:t>
            </a:r>
          </a:p>
          <a:p>
            <a:pPr>
              <a:spcAft>
                <a:spcPts val="700"/>
              </a:spcAft>
              <a:defRPr sz="1600">
                <a:solidFill>
                  <a:srgbClr val="27303E"/>
                </a:solidFill>
                <a:latin typeface="Aptos"/>
              </a:defRPr>
            </a:pPr>
            <a:r>
              <a:t>•  Repeat; plot posterior narrowing and the selected sequence of delays.</a:t>
            </a:r>
          </a:p>
          <a:p>
            <a:pPr>
              <a:spcAft>
                <a:spcPts val="700"/>
              </a:spcAft>
              <a:defRPr sz="1600">
                <a:solidFill>
                  <a:srgbClr val="27303E"/>
                </a:solidFill>
                <a:latin typeface="Aptos"/>
              </a:defRPr>
            </a:pPr>
            <a:r>
              <a:t>•  Compare precision versus total shots against a fixed dense-delay scan.</a:t>
            </a:r>
          </a:p>
        </p:txBody>
      </p:sp>
      <p:sp>
        <p:nvSpPr>
          <p:cNvPr id="8" name="Rounded Rectangle 7"/>
          <p:cNvSpPr/>
          <p:nvPr/>
        </p:nvSpPr>
        <p:spPr>
          <a:xfrm>
            <a:off x="7726679" y="1737360"/>
            <a:ext cx="361188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26679" y="1737360"/>
            <a:ext cx="82296" cy="137160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27848" y="1883664"/>
            <a:ext cx="322783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Posterior narrowing</a:t>
            </a:r>
          </a:p>
        </p:txBody>
      </p:sp>
      <p:sp>
        <p:nvSpPr>
          <p:cNvPr id="11" name="TextBox 10"/>
          <p:cNvSpPr txBox="1"/>
          <p:nvPr/>
        </p:nvSpPr>
        <p:spPr>
          <a:xfrm>
            <a:off x="7927848" y="2304288"/>
            <a:ext cx="3227832" cy="7132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The distribution concentrates around the true detuning.</a:t>
            </a:r>
          </a:p>
        </p:txBody>
      </p:sp>
      <p:sp>
        <p:nvSpPr>
          <p:cNvPr id="12" name="Rounded Rectangle 11"/>
          <p:cNvSpPr/>
          <p:nvPr/>
        </p:nvSpPr>
        <p:spPr>
          <a:xfrm>
            <a:off x="7726679" y="3383280"/>
            <a:ext cx="361188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26679" y="3383280"/>
            <a:ext cx="82296" cy="137160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27848" y="3529584"/>
            <a:ext cx="322783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Precision vs shots</a:t>
            </a:r>
          </a:p>
        </p:txBody>
      </p:sp>
      <p:sp>
        <p:nvSpPr>
          <p:cNvPr id="15" name="TextBox 14"/>
          <p:cNvSpPr txBox="1"/>
          <p:nvPr/>
        </p:nvSpPr>
        <p:spPr>
          <a:xfrm>
            <a:off x="7927848" y="3950208"/>
            <a:ext cx="3227832" cy="7132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How uncertainty decreases as measurement budget grows.</a:t>
            </a:r>
          </a:p>
        </p:txBody>
      </p:sp>
      <p:sp>
        <p:nvSpPr>
          <p:cNvPr id="16" name="Rounded Rectangle 15"/>
          <p:cNvSpPr/>
          <p:nvPr/>
        </p:nvSpPr>
        <p:spPr>
          <a:xfrm>
            <a:off x="7726679" y="5029200"/>
            <a:ext cx="361188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26679" y="5029200"/>
            <a:ext cx="82296" cy="91440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27848" y="5175504"/>
            <a:ext cx="322783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Shot saving</a:t>
            </a:r>
          </a:p>
        </p:txBody>
      </p:sp>
      <p:sp>
        <p:nvSpPr>
          <p:cNvPr id="19" name="TextBox 18"/>
          <p:cNvSpPr txBox="1"/>
          <p:nvPr/>
        </p:nvSpPr>
        <p:spPr>
          <a:xfrm>
            <a:off x="7927848" y="5596128"/>
            <a:ext cx="3227832" cy="256032"/>
          </a:xfrm>
          <a:prstGeom prst="rect">
            <a:avLst/>
          </a:prstGeom>
          <a:noFill/>
        </p:spPr>
        <p:txBody>
          <a:bodyPr wrap="square" lIns="73152" tIns="73152" rIns="73152" bIns="73152" anchor="t">
            <a:spAutoFit/>
          </a:bodyPr>
          <a:lstStyle/>
          <a:p>
            <a:pPr>
              <a:spcAft>
                <a:spcPts val="600"/>
              </a:spcAft>
              <a:defRPr sz="1300" b="0">
                <a:solidFill>
                  <a:srgbClr val="27303E"/>
                </a:solidFill>
                <a:latin typeface="Aptos"/>
              </a:defRPr>
            </a:pPr>
            <a:r>
              <a:t>Shots saved = fixed-grid shots − adaptive shots at equal precision.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POLICY LAYER</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Task 4: compare three calibration policies</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15</a:t>
            </a:r>
          </a:p>
        </p:txBody>
      </p:sp>
      <p:sp>
        <p:nvSpPr>
          <p:cNvPr id="7" name="Rounded Rectangle 6"/>
          <p:cNvSpPr/>
          <p:nvPr/>
        </p:nvSpPr>
        <p:spPr>
          <a:xfrm>
            <a:off x="685800" y="1645920"/>
            <a:ext cx="35204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45920"/>
            <a:ext cx="82296" cy="320040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792224"/>
            <a:ext cx="31363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P0 · No recalibration</a:t>
            </a:r>
          </a:p>
        </p:txBody>
      </p:sp>
      <p:sp>
        <p:nvSpPr>
          <p:cNvPr id="10" name="TextBox 9"/>
          <p:cNvSpPr txBox="1"/>
          <p:nvPr/>
        </p:nvSpPr>
        <p:spPr>
          <a:xfrm>
            <a:off x="886968" y="2212848"/>
            <a:ext cx="3136392" cy="254203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Calibrate once at the start, then keep using the same settings all day.</a:t>
            </a:r>
          </a:p>
          <a:p>
            <a:pPr>
              <a:spcAft>
                <a:spcPts val="600"/>
              </a:spcAft>
              <a:defRPr sz="1600" b="0">
                <a:solidFill>
                  <a:srgbClr val="27303E"/>
                </a:solidFill>
                <a:latin typeface="Aptos"/>
              </a:defRPr>
            </a:pPr>
            <a:endParaRPr/>
          </a:p>
          <a:p>
            <a:pPr>
              <a:spcAft>
                <a:spcPts val="600"/>
              </a:spcAft>
              <a:defRPr sz="1600" b="0">
                <a:solidFill>
                  <a:srgbClr val="27303E"/>
                </a:solidFill>
                <a:latin typeface="Aptos"/>
              </a:defRPr>
            </a:pPr>
            <a:r>
              <a:t>Cheap, but drift may make gates steadily worse.</a:t>
            </a:r>
          </a:p>
        </p:txBody>
      </p:sp>
      <p:sp>
        <p:nvSpPr>
          <p:cNvPr id="11" name="Rounded Rectangle 10"/>
          <p:cNvSpPr/>
          <p:nvPr/>
        </p:nvSpPr>
        <p:spPr>
          <a:xfrm>
            <a:off x="4343400" y="1645920"/>
            <a:ext cx="35204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645920"/>
            <a:ext cx="82296" cy="320040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792224"/>
            <a:ext cx="31363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P1 · Fixed schedule</a:t>
            </a:r>
          </a:p>
        </p:txBody>
      </p:sp>
      <p:sp>
        <p:nvSpPr>
          <p:cNvPr id="14" name="TextBox 13"/>
          <p:cNvSpPr txBox="1"/>
          <p:nvPr/>
        </p:nvSpPr>
        <p:spPr>
          <a:xfrm>
            <a:off x="4544568" y="2212848"/>
            <a:ext cx="3136392" cy="254203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Recalibrate at regular intervals.</a:t>
            </a:r>
          </a:p>
          <a:p>
            <a:pPr>
              <a:spcAft>
                <a:spcPts val="600"/>
              </a:spcAft>
              <a:defRPr sz="1600" b="0">
                <a:solidFill>
                  <a:srgbClr val="27303E"/>
                </a:solidFill>
                <a:latin typeface="Aptos"/>
              </a:defRPr>
            </a:pPr>
            <a:endParaRPr/>
          </a:p>
          <a:p>
            <a:pPr>
              <a:spcAft>
                <a:spcPts val="600"/>
              </a:spcAft>
              <a:defRPr sz="1600" b="0">
                <a:solidFill>
                  <a:srgbClr val="27303E"/>
                </a:solidFill>
                <a:latin typeface="Aptos"/>
              </a:defRPr>
            </a:pPr>
            <a:r>
              <a:t>Simple and predictable, but may calibrate when unnecessary or miss sudden drift.</a:t>
            </a:r>
          </a:p>
        </p:txBody>
      </p:sp>
      <p:sp>
        <p:nvSpPr>
          <p:cNvPr id="15" name="Rounded Rectangle 14"/>
          <p:cNvSpPr/>
          <p:nvPr/>
        </p:nvSpPr>
        <p:spPr>
          <a:xfrm>
            <a:off x="8001000" y="1645920"/>
            <a:ext cx="35204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01000" y="1645920"/>
            <a:ext cx="82296" cy="320040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02168" y="1792224"/>
            <a:ext cx="313639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P2 · Health check</a:t>
            </a:r>
          </a:p>
        </p:txBody>
      </p:sp>
      <p:sp>
        <p:nvSpPr>
          <p:cNvPr id="18" name="TextBox 17"/>
          <p:cNvSpPr txBox="1"/>
          <p:nvPr/>
        </p:nvSpPr>
        <p:spPr>
          <a:xfrm>
            <a:off x="8202168" y="2212848"/>
            <a:ext cx="3136392" cy="254203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Run a cheap check every few minutes; do a full calibration only when a statistic crosses a chosen threshold.</a:t>
            </a:r>
          </a:p>
          <a:p>
            <a:pPr>
              <a:spcAft>
                <a:spcPts val="600"/>
              </a:spcAft>
              <a:defRPr sz="1600" b="0">
                <a:solidFill>
                  <a:srgbClr val="27303E"/>
                </a:solidFill>
                <a:latin typeface="Aptos"/>
              </a:defRPr>
            </a:pPr>
            <a:endParaRPr/>
          </a:p>
          <a:p>
            <a:pPr>
              <a:spcAft>
                <a:spcPts val="600"/>
              </a:spcAft>
              <a:defRPr sz="1600" b="0">
                <a:solidFill>
                  <a:srgbClr val="27303E"/>
                </a:solidFill>
                <a:latin typeface="Aptos"/>
              </a:defRPr>
            </a:pPr>
            <a:r>
              <a:t>Can balance quality and overhead.</a:t>
            </a:r>
          </a:p>
        </p:txBody>
      </p:sp>
      <p:sp>
        <p:nvSpPr>
          <p:cNvPr id="19" name="TextBox 18"/>
          <p:cNvSpPr txBox="1"/>
          <p:nvPr/>
        </p:nvSpPr>
        <p:spPr>
          <a:xfrm>
            <a:off x="914400" y="5349240"/>
            <a:ext cx="10424160" cy="457200"/>
          </a:xfrm>
          <a:prstGeom prst="rect">
            <a:avLst/>
          </a:prstGeom>
          <a:noFill/>
        </p:spPr>
        <p:txBody>
          <a:bodyPr wrap="square" lIns="73152" tIns="73152" rIns="73152" bIns="73152" anchor="t">
            <a:spAutoFit/>
          </a:bodyPr>
          <a:lstStyle/>
          <a:p>
            <a:pPr algn="ctr">
              <a:spcAft>
                <a:spcPts val="600"/>
              </a:spcAft>
              <a:defRPr sz="1800" b="1">
                <a:solidFill>
                  <a:srgbClr val="162745"/>
                </a:solidFill>
                <a:latin typeface="Aptos"/>
              </a:defRPr>
            </a:pPr>
            <a:r>
              <a:t>For each policy, record gate error over the simulated day—not just one final number.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POLICY LAYER</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What is drift in this project?</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16</a:t>
            </a:r>
          </a:p>
        </p:txBody>
      </p:sp>
      <p:sp>
        <p:nvSpPr>
          <p:cNvPr id="7" name="TextBox 6"/>
          <p:cNvSpPr txBox="1"/>
          <p:nvPr/>
        </p:nvSpPr>
        <p:spPr>
          <a:xfrm>
            <a:off x="731520" y="1508760"/>
            <a:ext cx="10698480" cy="594360"/>
          </a:xfrm>
          <a:prstGeom prst="rect">
            <a:avLst/>
          </a:prstGeom>
          <a:noFill/>
        </p:spPr>
        <p:txBody>
          <a:bodyPr wrap="square" lIns="73152" tIns="73152" rIns="73152" bIns="73152" anchor="t">
            <a:spAutoFit/>
          </a:bodyPr>
          <a:lstStyle/>
          <a:p>
            <a:pPr>
              <a:spcAft>
                <a:spcPts val="600"/>
              </a:spcAft>
              <a:defRPr sz="1800" b="0">
                <a:solidFill>
                  <a:srgbClr val="27303E"/>
                </a:solidFill>
                <a:latin typeface="Aptos"/>
              </a:defRPr>
            </a:pPr>
            <a:r>
              <a:t>Drift means the device's effective control parameters change over time, even if the software settings stay fixed.</a:t>
            </a:r>
          </a:p>
        </p:txBody>
      </p:sp>
      <p:sp>
        <p:nvSpPr>
          <p:cNvPr id="8" name="Rounded Rectangle 7"/>
          <p:cNvSpPr/>
          <p:nvPr/>
        </p:nvSpPr>
        <p:spPr>
          <a:xfrm>
            <a:off x="731520" y="2377440"/>
            <a:ext cx="342900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2377440"/>
            <a:ext cx="82296" cy="2148840"/>
          </a:xfrm>
          <a:prstGeom prst="rect">
            <a:avLst/>
          </a:prstGeom>
          <a:solidFill>
            <a:srgbClr val="2B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252374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Frequency drift</a:t>
            </a:r>
          </a:p>
        </p:txBody>
      </p:sp>
      <p:sp>
        <p:nvSpPr>
          <p:cNvPr id="11" name="TextBox 10"/>
          <p:cNvSpPr txBox="1"/>
          <p:nvPr/>
        </p:nvSpPr>
        <p:spPr>
          <a:xfrm>
            <a:off x="932688" y="2944368"/>
            <a:ext cx="3044952" cy="14904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The qubit transition frequency shifts, so the old drive is no longer perfectly on resonance.</a:t>
            </a:r>
          </a:p>
        </p:txBody>
      </p:sp>
      <p:sp>
        <p:nvSpPr>
          <p:cNvPr id="12" name="Rounded Rectangle 11"/>
          <p:cNvSpPr/>
          <p:nvPr/>
        </p:nvSpPr>
        <p:spPr>
          <a:xfrm>
            <a:off x="4389120" y="2377440"/>
            <a:ext cx="342900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2377440"/>
            <a:ext cx="82296" cy="214884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0288" y="252374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Amplitude drift</a:t>
            </a:r>
          </a:p>
        </p:txBody>
      </p:sp>
      <p:sp>
        <p:nvSpPr>
          <p:cNvPr id="15" name="TextBox 14"/>
          <p:cNvSpPr txBox="1"/>
          <p:nvPr/>
        </p:nvSpPr>
        <p:spPr>
          <a:xfrm>
            <a:off x="4590288" y="2944368"/>
            <a:ext cx="3044952" cy="14904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The same command can produce a different rotation angle, causing under- or over-rotation.</a:t>
            </a:r>
          </a:p>
        </p:txBody>
      </p:sp>
      <p:sp>
        <p:nvSpPr>
          <p:cNvPr id="16" name="Rounded Rectangle 15"/>
          <p:cNvSpPr/>
          <p:nvPr/>
        </p:nvSpPr>
        <p:spPr>
          <a:xfrm>
            <a:off x="8046720" y="2377440"/>
            <a:ext cx="342900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2377440"/>
            <a:ext cx="82296" cy="214884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47888" y="252374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Pulse-shape / β drift</a:t>
            </a:r>
          </a:p>
        </p:txBody>
      </p:sp>
      <p:sp>
        <p:nvSpPr>
          <p:cNvPr id="19" name="TextBox 18"/>
          <p:cNvSpPr txBox="1"/>
          <p:nvPr/>
        </p:nvSpPr>
        <p:spPr>
          <a:xfrm>
            <a:off x="8247888" y="2944368"/>
            <a:ext cx="3044952" cy="14904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The best DRAG correction may change, increasing leakage or phase error.</a:t>
            </a:r>
          </a:p>
        </p:txBody>
      </p:sp>
      <p:sp>
        <p:nvSpPr>
          <p:cNvPr id="20" name="TextBox 19"/>
          <p:cNvSpPr txBox="1"/>
          <p:nvPr/>
        </p:nvSpPr>
        <p:spPr>
          <a:xfrm>
            <a:off x="914400" y="5257800"/>
            <a:ext cx="10332720" cy="457200"/>
          </a:xfrm>
          <a:prstGeom prst="rect">
            <a:avLst/>
          </a:prstGeom>
          <a:noFill/>
        </p:spPr>
        <p:txBody>
          <a:bodyPr wrap="square" lIns="73152" tIns="73152" rIns="73152" bIns="73152" anchor="t">
            <a:spAutoFit/>
          </a:bodyPr>
          <a:lstStyle/>
          <a:p>
            <a:pPr algn="ctr">
              <a:spcAft>
                <a:spcPts val="600"/>
              </a:spcAft>
              <a:defRPr sz="1700" b="1">
                <a:solidFill>
                  <a:srgbClr val="162745"/>
                </a:solidFill>
                <a:latin typeface="Aptos"/>
              </a:defRPr>
            </a:pPr>
            <a:r>
              <a:t>A policy is a rule for deciding when to spend time and shots checking or correcting these changes.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EVALUATION</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Task 5: Pareto analysis—quality versus overhead</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17</a:t>
            </a:r>
          </a:p>
        </p:txBody>
      </p:sp>
      <p:sp>
        <p:nvSpPr>
          <p:cNvPr id="7" name="TextBox 6"/>
          <p:cNvSpPr txBox="1"/>
          <p:nvPr/>
        </p:nvSpPr>
        <p:spPr>
          <a:xfrm>
            <a:off x="731520" y="1508760"/>
            <a:ext cx="10698480" cy="365760"/>
          </a:xfrm>
          <a:prstGeom prst="rect">
            <a:avLst/>
          </a:prstGeom>
          <a:noFill/>
        </p:spPr>
        <p:txBody>
          <a:bodyPr wrap="square" lIns="73152" tIns="73152" rIns="73152" bIns="73152" anchor="t">
            <a:spAutoFit/>
          </a:bodyPr>
          <a:lstStyle/>
          <a:p>
            <a:pPr>
              <a:spcAft>
                <a:spcPts val="600"/>
              </a:spcAft>
              <a:defRPr sz="1800" b="0">
                <a:solidFill>
                  <a:srgbClr val="27303E"/>
                </a:solidFill>
                <a:latin typeface="Aptos"/>
              </a:defRPr>
            </a:pPr>
            <a:r>
              <a:t>Each policy trades off two goals:</a:t>
            </a:r>
          </a:p>
        </p:txBody>
      </p:sp>
      <p:sp>
        <p:nvSpPr>
          <p:cNvPr id="8" name="Rounded Rectangle 7"/>
          <p:cNvSpPr/>
          <p:nvPr/>
        </p:nvSpPr>
        <p:spPr>
          <a:xfrm>
            <a:off x="777240" y="2057400"/>
            <a:ext cx="502920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 y="2057400"/>
            <a:ext cx="82296" cy="192024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203704"/>
            <a:ext cx="46451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A · Time-averaged gate error</a:t>
            </a:r>
          </a:p>
        </p:txBody>
      </p:sp>
      <p:sp>
        <p:nvSpPr>
          <p:cNvPr id="11" name="TextBox 10"/>
          <p:cNvSpPr txBox="1"/>
          <p:nvPr/>
        </p:nvSpPr>
        <p:spPr>
          <a:xfrm>
            <a:off x="978408" y="2624328"/>
            <a:ext cx="4645152" cy="126187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How inaccurate were the gates, averaged across the simulated day? Lower is better.</a:t>
            </a:r>
          </a:p>
        </p:txBody>
      </p:sp>
      <p:sp>
        <p:nvSpPr>
          <p:cNvPr id="12" name="Rounded Rectangle 11"/>
          <p:cNvSpPr/>
          <p:nvPr/>
        </p:nvSpPr>
        <p:spPr>
          <a:xfrm>
            <a:off x="6355080" y="2057400"/>
            <a:ext cx="502920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55080" y="2057400"/>
            <a:ext cx="82296" cy="192024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56248" y="2203704"/>
            <a:ext cx="46451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B · Calibration fraction</a:t>
            </a:r>
          </a:p>
        </p:txBody>
      </p:sp>
      <p:sp>
        <p:nvSpPr>
          <p:cNvPr id="15" name="TextBox 14"/>
          <p:cNvSpPr txBox="1"/>
          <p:nvPr/>
        </p:nvSpPr>
        <p:spPr>
          <a:xfrm>
            <a:off x="6556248" y="2624328"/>
            <a:ext cx="4645152" cy="1261872"/>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What fraction of the day was spent calibrating rather than doing useful computation? Lower is better.</a:t>
            </a:r>
          </a:p>
        </p:txBody>
      </p:sp>
      <p:sp>
        <p:nvSpPr>
          <p:cNvPr id="16" name="TextBox 15"/>
          <p:cNvSpPr txBox="1"/>
          <p:nvPr/>
        </p:nvSpPr>
        <p:spPr>
          <a:xfrm>
            <a:off x="822960" y="4434840"/>
            <a:ext cx="2103120" cy="320040"/>
          </a:xfrm>
          <a:prstGeom prst="rect">
            <a:avLst/>
          </a:prstGeom>
          <a:noFill/>
        </p:spPr>
        <p:txBody>
          <a:bodyPr wrap="square" lIns="73152" tIns="73152" rIns="73152" bIns="73152" anchor="t">
            <a:spAutoFit/>
          </a:bodyPr>
          <a:lstStyle/>
          <a:p>
            <a:pPr>
              <a:spcAft>
                <a:spcPts val="600"/>
              </a:spcAft>
              <a:defRPr sz="1800" b="1">
                <a:solidFill>
                  <a:srgbClr val="162745"/>
                </a:solidFill>
                <a:latin typeface="Aptos"/>
              </a:defRPr>
            </a:pPr>
            <a:r>
              <a:t>Pareto frontier</a:t>
            </a:r>
          </a:p>
        </p:txBody>
      </p:sp>
      <p:sp>
        <p:nvSpPr>
          <p:cNvPr id="17" name="TextBox 16"/>
          <p:cNvSpPr txBox="1"/>
          <p:nvPr/>
        </p:nvSpPr>
        <p:spPr>
          <a:xfrm>
            <a:off x="822960" y="4846320"/>
            <a:ext cx="10424160" cy="914400"/>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A policy is Pareto-dominated if another policy has both lower gate error and lower calibration overhead. Repeat with at least 20 drift seeds to show variability with error bars.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DOWNSTREAM ALGORITHM</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What is MaxCut, in simple words?</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18</a:t>
            </a:r>
          </a:p>
        </p:txBody>
      </p:sp>
      <p:sp>
        <p:nvSpPr>
          <p:cNvPr id="7" name="TextBox 6"/>
          <p:cNvSpPr txBox="1"/>
          <p:nvPr/>
        </p:nvSpPr>
        <p:spPr>
          <a:xfrm>
            <a:off x="685800" y="1463040"/>
            <a:ext cx="10789920" cy="594360"/>
          </a:xfrm>
          <a:prstGeom prst="rect">
            <a:avLst/>
          </a:prstGeom>
          <a:noFill/>
        </p:spPr>
        <p:txBody>
          <a:bodyPr wrap="square" lIns="73152" tIns="73152" rIns="73152" bIns="73152" anchor="t">
            <a:spAutoFit/>
          </a:bodyPr>
          <a:lstStyle/>
          <a:p>
            <a:pPr>
              <a:spcAft>
                <a:spcPts val="600"/>
              </a:spcAft>
              <a:defRPr sz="1800" b="0">
                <a:solidFill>
                  <a:srgbClr val="27303E"/>
                </a:solidFill>
                <a:latin typeface="Aptos"/>
              </a:defRPr>
            </a:pPr>
            <a:r>
              <a:t>MaxCut divides the vertices of a graph into two groups so that as many edges as possible cross between the groups.</a:t>
            </a:r>
          </a:p>
        </p:txBody>
      </p:sp>
      <p:cxnSp>
        <p:nvCxnSpPr>
          <p:cNvPr id="8" name="Connector 7"/>
          <p:cNvCxnSpPr/>
          <p:nvPr/>
        </p:nvCxnSpPr>
        <p:spPr>
          <a:xfrm flipV="1">
            <a:off x="2029968" y="2578608"/>
            <a:ext cx="2011680" cy="365760"/>
          </a:xfrm>
          <a:prstGeom prst="line">
            <a:avLst/>
          </a:prstGeom>
          <a:ln w="25400">
            <a:solidFill>
              <a:srgbClr val="5C68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29968" y="2944368"/>
            <a:ext cx="1097280" cy="1371600"/>
          </a:xfrm>
          <a:prstGeom prst="line">
            <a:avLst/>
          </a:prstGeom>
          <a:ln w="25400">
            <a:solidFill>
              <a:srgbClr val="5C687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27248" y="2578608"/>
            <a:ext cx="914400" cy="1737360"/>
          </a:xfrm>
          <a:prstGeom prst="line">
            <a:avLst/>
          </a:prstGeom>
          <a:ln w="25400">
            <a:solidFill>
              <a:srgbClr val="5C687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041648" y="2578608"/>
            <a:ext cx="914400" cy="1645920"/>
          </a:xfrm>
          <a:prstGeom prst="line">
            <a:avLst/>
          </a:prstGeom>
          <a:ln w="25400">
            <a:solidFill>
              <a:srgbClr val="5C687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127248" y="4224528"/>
            <a:ext cx="1828800" cy="91440"/>
          </a:xfrm>
          <a:prstGeom prst="line">
            <a:avLst/>
          </a:prstGeom>
          <a:ln w="25400">
            <a:solidFill>
              <a:srgbClr val="5C687A"/>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828800" y="2743200"/>
            <a:ext cx="438912" cy="438912"/>
          </a:xfrm>
          <a:prstGeom prst="ellipse">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840480" y="2377440"/>
            <a:ext cx="438912" cy="438912"/>
          </a:xfrm>
          <a:prstGeom prst="ellipse">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926080" y="4114800"/>
            <a:ext cx="438912" cy="438912"/>
          </a:xfrm>
          <a:prstGeom prst="ellipse">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754880" y="4023360"/>
            <a:ext cx="438912" cy="438912"/>
          </a:xfrm>
          <a:prstGeom prst="ellipse">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15000" y="2423160"/>
            <a:ext cx="5120640" cy="1234440"/>
          </a:xfrm>
          <a:prstGeom prst="rect">
            <a:avLst/>
          </a:prstGeom>
          <a:noFill/>
        </p:spPr>
        <p:txBody>
          <a:bodyPr wrap="square" lIns="73152" tIns="73152" rIns="73152" bIns="73152" anchor="t">
            <a:spAutoFit/>
          </a:bodyPr>
          <a:lstStyle/>
          <a:p>
            <a:pPr>
              <a:spcAft>
                <a:spcPts val="600"/>
              </a:spcAft>
              <a:defRPr sz="1900" b="1">
                <a:solidFill>
                  <a:srgbClr val="162745"/>
                </a:solidFill>
                <a:latin typeface="Aptos"/>
              </a:defRPr>
            </a:pPr>
            <a:r>
              <a:t>One cut: teal group vs coral group.</a:t>
            </a:r>
          </a:p>
          <a:p>
            <a:pPr>
              <a:spcAft>
                <a:spcPts val="600"/>
              </a:spcAft>
              <a:defRPr sz="1900" b="1">
                <a:solidFill>
                  <a:srgbClr val="162745"/>
                </a:solidFill>
                <a:latin typeface="Aptos"/>
              </a:defRPr>
            </a:pPr>
            <a:r>
              <a:t>An edge counts if its endpoints are in different groups.</a:t>
            </a:r>
          </a:p>
        </p:txBody>
      </p:sp>
      <p:sp>
        <p:nvSpPr>
          <p:cNvPr id="18" name="TextBox 17"/>
          <p:cNvSpPr txBox="1"/>
          <p:nvPr/>
        </p:nvSpPr>
        <p:spPr>
          <a:xfrm>
            <a:off x="5715000" y="4069080"/>
            <a:ext cx="5120640" cy="1051560"/>
          </a:xfrm>
          <a:prstGeom prst="rect">
            <a:avLst/>
          </a:prstGeom>
          <a:noFill/>
        </p:spPr>
        <p:txBody>
          <a:bodyPr wrap="square" lIns="73152" tIns="73152" rIns="73152" bIns="73152" anchor="t">
            <a:spAutoFit/>
          </a:bodyPr>
          <a:lstStyle/>
          <a:p>
            <a:pPr>
              <a:spcAft>
                <a:spcPts val="600"/>
              </a:spcAft>
              <a:defRPr sz="1600" b="0">
                <a:solidFill>
                  <a:srgbClr val="27303E"/>
                </a:solidFill>
                <a:latin typeface="Aptos"/>
              </a:defRPr>
            </a:pPr>
            <a:r>
              <a:t>MaxCut is a useful benchmark optimisation problem: it lets us see whether imperfect quantum gates damage an algorithm's result.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DOWNSTREAM ALGORITHM</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How QAOA uses the quantum processor</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19</a:t>
            </a:r>
          </a:p>
        </p:txBody>
      </p:sp>
      <p:sp>
        <p:nvSpPr>
          <p:cNvPr id="7" name="Rounded Rectangle 6"/>
          <p:cNvSpPr/>
          <p:nvPr/>
        </p:nvSpPr>
        <p:spPr>
          <a:xfrm>
            <a:off x="685800" y="1600200"/>
            <a:ext cx="3474720" cy="2514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00200"/>
            <a:ext cx="82296" cy="2514600"/>
          </a:xfrm>
          <a:prstGeom prst="rect">
            <a:avLst/>
          </a:prstGeom>
          <a:solidFill>
            <a:srgbClr val="2B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746504"/>
            <a:ext cx="309067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1. Encode the problem</a:t>
            </a:r>
          </a:p>
        </p:txBody>
      </p:sp>
      <p:sp>
        <p:nvSpPr>
          <p:cNvPr id="10" name="TextBox 9"/>
          <p:cNvSpPr txBox="1"/>
          <p:nvPr/>
        </p:nvSpPr>
        <p:spPr>
          <a:xfrm>
            <a:off x="886968" y="2167128"/>
            <a:ext cx="3090672" cy="185623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A cost Hamiltonian assigns better energy to bitstrings that cut more graph edges.</a:t>
            </a:r>
          </a:p>
        </p:txBody>
      </p:sp>
      <p:sp>
        <p:nvSpPr>
          <p:cNvPr id="11" name="Rounded Rectangle 10"/>
          <p:cNvSpPr/>
          <p:nvPr/>
        </p:nvSpPr>
        <p:spPr>
          <a:xfrm>
            <a:off x="4389120" y="1600200"/>
            <a:ext cx="3474720" cy="2514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00200"/>
            <a:ext cx="82296" cy="251460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746504"/>
            <a:ext cx="309067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2. Apply a circuit</a:t>
            </a:r>
          </a:p>
        </p:txBody>
      </p:sp>
      <p:sp>
        <p:nvSpPr>
          <p:cNvPr id="14" name="TextBox 13"/>
          <p:cNvSpPr txBox="1"/>
          <p:nvPr/>
        </p:nvSpPr>
        <p:spPr>
          <a:xfrm>
            <a:off x="4590288" y="2167128"/>
            <a:ext cx="3090672" cy="18562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For p = 1, apply one cost layer and one mixing layer, controlled by angles often called γ and β (algorithmic β; distinct from DRAG β).</a:t>
            </a:r>
          </a:p>
        </p:txBody>
      </p:sp>
      <p:sp>
        <p:nvSpPr>
          <p:cNvPr id="15" name="Rounded Rectangle 14"/>
          <p:cNvSpPr/>
          <p:nvPr/>
        </p:nvSpPr>
        <p:spPr>
          <a:xfrm>
            <a:off x="8092440" y="1600200"/>
            <a:ext cx="3474720" cy="2514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600200"/>
            <a:ext cx="82296" cy="251460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746504"/>
            <a:ext cx="309067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3. Measure and score</a:t>
            </a:r>
          </a:p>
        </p:txBody>
      </p:sp>
      <p:sp>
        <p:nvSpPr>
          <p:cNvPr id="18" name="TextBox 17"/>
          <p:cNvSpPr txBox="1"/>
          <p:nvPr/>
        </p:nvSpPr>
        <p:spPr>
          <a:xfrm>
            <a:off x="8293608" y="2167128"/>
            <a:ext cx="3090672" cy="185623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Measure bitstrings, compute their cut values, and estimate the expected cost. A classical optimiser can tune the angles.</a:t>
            </a:r>
          </a:p>
        </p:txBody>
      </p:sp>
      <p:sp>
        <p:nvSpPr>
          <p:cNvPr id="19" name="Rounded Rectangle 18"/>
          <p:cNvSpPr/>
          <p:nvPr/>
        </p:nvSpPr>
        <p:spPr>
          <a:xfrm>
            <a:off x="914400" y="4709160"/>
            <a:ext cx="10241280" cy="868680"/>
          </a:xfrm>
          <a:prstGeom prst="roundRect">
            <a:avLst/>
          </a:prstGeom>
          <a:solidFill>
            <a:srgbClr val="E8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4919472"/>
            <a:ext cx="9692640" cy="502920"/>
          </a:xfrm>
          <a:prstGeom prst="rect">
            <a:avLst/>
          </a:prstGeom>
          <a:noFill/>
        </p:spPr>
        <p:txBody>
          <a:bodyPr wrap="square" lIns="73152" tIns="73152" rIns="73152" bIns="73152" anchor="t">
            <a:spAutoFit/>
          </a:bodyPr>
          <a:lstStyle/>
          <a:p>
            <a:pPr algn="ctr">
              <a:spcAft>
                <a:spcPts val="600"/>
              </a:spcAft>
              <a:defRPr sz="1600" b="1">
                <a:solidFill>
                  <a:srgbClr val="2B5BA6"/>
                </a:solidFill>
                <a:latin typeface="Aptos"/>
              </a:defRPr>
            </a:pPr>
            <a:r>
              <a:t>Why connect it to calibration? Because every imperfect single-qubit gate can change the final bitstring distribution and reduce the achieved cut quality.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DOWNSTREAM ALGORITHM</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Task 6: how is an imperfect gate modelled?</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20</a:t>
            </a:r>
          </a:p>
        </p:txBody>
      </p:sp>
      <p:sp>
        <p:nvSpPr>
          <p:cNvPr id="7" name="TextBox 6"/>
          <p:cNvSpPr txBox="1"/>
          <p:nvPr/>
        </p:nvSpPr>
        <p:spPr>
          <a:xfrm>
            <a:off x="685800" y="1463040"/>
            <a:ext cx="10789920" cy="640080"/>
          </a:xfrm>
          <a:prstGeom prst="rect">
            <a:avLst/>
          </a:prstGeom>
          <a:noFill/>
        </p:spPr>
        <p:txBody>
          <a:bodyPr wrap="square" lIns="73152" tIns="73152" rIns="73152" bIns="73152" anchor="t">
            <a:spAutoFit/>
          </a:bodyPr>
          <a:lstStyle/>
          <a:p>
            <a:pPr>
              <a:spcAft>
                <a:spcPts val="600"/>
              </a:spcAft>
              <a:defRPr sz="1700" b="0">
                <a:solidFill>
                  <a:srgbClr val="27303E"/>
                </a:solidFill>
                <a:latin typeface="Aptos"/>
              </a:defRPr>
            </a:pPr>
            <a:r>
              <a:t>The project asks us to build an effective 2 × 2 block M(t) from the transmon model and include rotation error, detuning error, and leakage.</a:t>
            </a:r>
          </a:p>
        </p:txBody>
      </p:sp>
      <p:sp>
        <p:nvSpPr>
          <p:cNvPr id="8" name="Rounded Rectangle 7"/>
          <p:cNvSpPr/>
          <p:nvPr/>
        </p:nvSpPr>
        <p:spPr>
          <a:xfrm>
            <a:off x="1051560" y="2331720"/>
            <a:ext cx="10058400" cy="77724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16151" y="2450591"/>
            <a:ext cx="9729216" cy="539496"/>
          </a:xfrm>
          <a:prstGeom prst="rect">
            <a:avLst/>
          </a:prstGeom>
          <a:noFill/>
        </p:spPr>
        <p:txBody>
          <a:bodyPr wrap="square" lIns="73152" tIns="73152" rIns="73152" bIns="73152" anchor="t">
            <a:spAutoFit/>
          </a:bodyPr>
          <a:lstStyle/>
          <a:p>
            <a:pPr>
              <a:spcAft>
                <a:spcPts val="600"/>
              </a:spcAft>
              <a:defRPr sz="2000" b="0">
                <a:solidFill>
                  <a:srgbClr val="E4EFF9"/>
                </a:solidFill>
                <a:latin typeface="Consolas"/>
              </a:defRPr>
            </a:pPr>
            <a:r>
              <a:t>ρ  →  MρM† + (1 − Tr[MρM†]) I/2</a:t>
            </a:r>
          </a:p>
        </p:txBody>
      </p:sp>
      <p:sp>
        <p:nvSpPr>
          <p:cNvPr id="10" name="Rounded Rectangle 9"/>
          <p:cNvSpPr/>
          <p:nvPr/>
        </p:nvSpPr>
        <p:spPr>
          <a:xfrm>
            <a:off x="731520" y="3520440"/>
            <a:ext cx="342900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40"/>
            <a:ext cx="82296" cy="1645920"/>
          </a:xfrm>
          <a:prstGeom prst="rect">
            <a:avLst/>
          </a:prstGeom>
          <a:solidFill>
            <a:srgbClr val="2B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66674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MρM†</a:t>
            </a:r>
          </a:p>
        </p:txBody>
      </p:sp>
      <p:sp>
        <p:nvSpPr>
          <p:cNvPr id="13" name="TextBox 12"/>
          <p:cNvSpPr txBox="1"/>
          <p:nvPr/>
        </p:nvSpPr>
        <p:spPr>
          <a:xfrm>
            <a:off x="932688" y="4087368"/>
            <a:ext cx="3044952" cy="98755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The part that remains inside the computational qubit space after the imperfect operation.</a:t>
            </a:r>
          </a:p>
        </p:txBody>
      </p:sp>
      <p:sp>
        <p:nvSpPr>
          <p:cNvPr id="14" name="Rounded Rectangle 13"/>
          <p:cNvSpPr/>
          <p:nvPr/>
        </p:nvSpPr>
        <p:spPr>
          <a:xfrm>
            <a:off x="4389120" y="3520440"/>
            <a:ext cx="342900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89120" y="3520440"/>
            <a:ext cx="82296" cy="1645920"/>
          </a:xfrm>
          <a:prstGeom prst="rect">
            <a:avLst/>
          </a:prstGeom>
          <a:solidFill>
            <a:srgbClr val="EC7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90288" y="366674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Trace loss</a:t>
            </a:r>
          </a:p>
        </p:txBody>
      </p:sp>
      <p:sp>
        <p:nvSpPr>
          <p:cNvPr id="17" name="TextBox 16"/>
          <p:cNvSpPr txBox="1"/>
          <p:nvPr/>
        </p:nvSpPr>
        <p:spPr>
          <a:xfrm>
            <a:off x="4590288" y="4087368"/>
            <a:ext cx="3044952" cy="98755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If Tr[MρM†] is less than 1, some probability leaked out of the qubit subspace.</a:t>
            </a:r>
          </a:p>
        </p:txBody>
      </p:sp>
      <p:sp>
        <p:nvSpPr>
          <p:cNvPr id="18" name="Rounded Rectangle 17"/>
          <p:cNvSpPr/>
          <p:nvPr/>
        </p:nvSpPr>
        <p:spPr>
          <a:xfrm>
            <a:off x="8046720" y="3520440"/>
            <a:ext cx="342900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3520440"/>
            <a:ext cx="82296" cy="164592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47888" y="366674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I/2 term</a:t>
            </a:r>
          </a:p>
        </p:txBody>
      </p:sp>
      <p:sp>
        <p:nvSpPr>
          <p:cNvPr id="21" name="TextBox 20"/>
          <p:cNvSpPr txBox="1"/>
          <p:nvPr/>
        </p:nvSpPr>
        <p:spPr>
          <a:xfrm>
            <a:off x="8247888" y="4087368"/>
            <a:ext cx="3044952" cy="987552"/>
          </a:xfrm>
          <a:prstGeom prst="rect">
            <a:avLst/>
          </a:prstGeom>
          <a:noFill/>
        </p:spPr>
        <p:txBody>
          <a:bodyPr wrap="square" lIns="73152" tIns="73152" rIns="73152" bIns="73152" anchor="t">
            <a:spAutoFit/>
          </a:bodyPr>
          <a:lstStyle/>
          <a:p>
            <a:pPr>
              <a:spcAft>
                <a:spcPts val="600"/>
              </a:spcAft>
              <a:defRPr sz="1400" b="0">
                <a:solidFill>
                  <a:srgbClr val="27303E"/>
                </a:solidFill>
                <a:latin typeface="Aptos"/>
              </a:defRPr>
            </a:pPr>
            <a:r>
              <a:t>The given map redistributes lost probability as a maximally mixed qubit contribution, preserving total trace.</a:t>
            </a:r>
          </a:p>
        </p:txBody>
      </p:sp>
      <p:sp>
        <p:nvSpPr>
          <p:cNvPr id="22" name="TextBox 21"/>
          <p:cNvSpPr txBox="1"/>
          <p:nvPr/>
        </p:nvSpPr>
        <p:spPr>
          <a:xfrm>
            <a:off x="822960" y="5623560"/>
            <a:ext cx="10515600" cy="411480"/>
          </a:xfrm>
          <a:prstGeom prst="rect">
            <a:avLst/>
          </a:prstGeom>
          <a:noFill/>
        </p:spPr>
        <p:txBody>
          <a:bodyPr wrap="square" lIns="73152" tIns="73152" rIns="73152" bIns="73152" anchor="t">
            <a:spAutoFit/>
          </a:bodyPr>
          <a:lstStyle/>
          <a:p>
            <a:pPr algn="ctr">
              <a:spcAft>
                <a:spcPts val="600"/>
              </a:spcAft>
              <a:defRPr sz="1500" b="1">
                <a:solidFill>
                  <a:srgbClr val="162745"/>
                </a:solidFill>
                <a:latin typeface="Aptos"/>
              </a:defRPr>
            </a:pPr>
            <a:r>
              <a:t>Two-qubit RZZ gates are assumed ideal in this task; the single-qubit gates carry the calibration-dependent error.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RESULTS TO PRESENT</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What does the final cost plot tell us?</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21</a:t>
            </a:r>
          </a:p>
        </p:txBody>
      </p:sp>
      <p:sp>
        <p:nvSpPr>
          <p:cNvPr id="7" name="Rounded Rectangle 6"/>
          <p:cNvSpPr/>
          <p:nvPr/>
        </p:nvSpPr>
        <p:spPr>
          <a:xfrm>
            <a:off x="731520" y="1645920"/>
            <a:ext cx="3429000" cy="2377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645920"/>
            <a:ext cx="82296" cy="2377440"/>
          </a:xfrm>
          <a:prstGeom prst="rect">
            <a:avLst/>
          </a:prstGeom>
          <a:solidFill>
            <a:srgbClr val="2B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79222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Horizontal axis</a:t>
            </a:r>
          </a:p>
        </p:txBody>
      </p:sp>
      <p:sp>
        <p:nvSpPr>
          <p:cNvPr id="10" name="TextBox 9"/>
          <p:cNvSpPr txBox="1"/>
          <p:nvPr/>
        </p:nvSpPr>
        <p:spPr>
          <a:xfrm>
            <a:off x="932688" y="2212848"/>
            <a:ext cx="3044952" cy="17190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Time of day. This reveals when drift begins to harm the computation and when recalibration occurs.</a:t>
            </a:r>
          </a:p>
        </p:txBody>
      </p:sp>
      <p:sp>
        <p:nvSpPr>
          <p:cNvPr id="11" name="Rounded Rectangle 10"/>
          <p:cNvSpPr/>
          <p:nvPr/>
        </p:nvSpPr>
        <p:spPr>
          <a:xfrm>
            <a:off x="4389120" y="1645920"/>
            <a:ext cx="3429000" cy="2377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45920"/>
            <a:ext cx="82296" cy="2377440"/>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79222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Vertical axis</a:t>
            </a:r>
          </a:p>
        </p:txBody>
      </p:sp>
      <p:sp>
        <p:nvSpPr>
          <p:cNvPr id="14" name="TextBox 13"/>
          <p:cNvSpPr txBox="1"/>
          <p:nvPr/>
        </p:nvSpPr>
        <p:spPr>
          <a:xfrm>
            <a:off x="4590288" y="2212848"/>
            <a:ext cx="3044952" cy="17190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Normalised cost ⟨C⟩/Cmax. It compares algorithm performance on a common scale.</a:t>
            </a:r>
          </a:p>
        </p:txBody>
      </p:sp>
      <p:sp>
        <p:nvSpPr>
          <p:cNvPr id="15" name="Rounded Rectangle 14"/>
          <p:cNvSpPr/>
          <p:nvPr/>
        </p:nvSpPr>
        <p:spPr>
          <a:xfrm>
            <a:off x="8046720" y="1645920"/>
            <a:ext cx="3429000" cy="2377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645920"/>
            <a:ext cx="82296" cy="2377440"/>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792224"/>
            <a:ext cx="3044952" cy="310896"/>
          </a:xfrm>
          <a:prstGeom prst="rect">
            <a:avLst/>
          </a:prstGeom>
          <a:noFill/>
        </p:spPr>
        <p:txBody>
          <a:bodyPr wrap="square" lIns="73152" tIns="73152" rIns="73152" bIns="73152" anchor="t">
            <a:spAutoFit/>
          </a:bodyPr>
          <a:lstStyle/>
          <a:p>
            <a:pPr>
              <a:spcAft>
                <a:spcPts val="600"/>
              </a:spcAft>
              <a:defRPr sz="1700" b="1">
                <a:solidFill>
                  <a:srgbClr val="162745"/>
                </a:solidFill>
                <a:latin typeface="Aptos"/>
              </a:defRPr>
            </a:pPr>
            <a:r>
              <a:t>Compare policies</a:t>
            </a:r>
          </a:p>
        </p:txBody>
      </p:sp>
      <p:sp>
        <p:nvSpPr>
          <p:cNvPr id="18" name="TextBox 17"/>
          <p:cNvSpPr txBox="1"/>
          <p:nvPr/>
        </p:nvSpPr>
        <p:spPr>
          <a:xfrm>
            <a:off x="8247888" y="2212848"/>
            <a:ext cx="3044952" cy="1719072"/>
          </a:xfrm>
          <a:prstGeom prst="rect">
            <a:avLst/>
          </a:prstGeom>
          <a:noFill/>
        </p:spPr>
        <p:txBody>
          <a:bodyPr wrap="square" lIns="73152" tIns="73152" rIns="73152" bIns="73152" anchor="t">
            <a:spAutoFit/>
          </a:bodyPr>
          <a:lstStyle/>
          <a:p>
            <a:pPr>
              <a:spcAft>
                <a:spcPts val="600"/>
              </a:spcAft>
              <a:defRPr sz="1500" b="0">
                <a:solidFill>
                  <a:srgbClr val="27303E"/>
                </a:solidFill>
                <a:latin typeface="Aptos"/>
              </a:defRPr>
            </a:pPr>
            <a:r>
              <a:t>A stronger policy should maintain better cost, but may spend more time calibrating. Report this trade-off, not just one winner.</a:t>
            </a:r>
          </a:p>
        </p:txBody>
      </p:sp>
      <p:sp>
        <p:nvSpPr>
          <p:cNvPr id="19" name="TextBox 18"/>
          <p:cNvSpPr txBox="1"/>
          <p:nvPr/>
        </p:nvSpPr>
        <p:spPr>
          <a:xfrm>
            <a:off x="914400" y="4754880"/>
            <a:ext cx="10332720" cy="640080"/>
          </a:xfrm>
          <a:prstGeom prst="rect">
            <a:avLst/>
          </a:prstGeom>
          <a:noFill/>
        </p:spPr>
        <p:txBody>
          <a:bodyPr wrap="square" lIns="73152" tIns="73152" rIns="73152" bIns="73152" anchor="t">
            <a:spAutoFit/>
          </a:bodyPr>
          <a:lstStyle/>
          <a:p>
            <a:pPr algn="ctr">
              <a:spcAft>
                <a:spcPts val="600"/>
              </a:spcAft>
              <a:defRPr sz="1800" b="1">
                <a:solidFill>
                  <a:srgbClr val="EC7063"/>
                </a:solidFill>
                <a:latin typeface="Aptos"/>
              </a:defRPr>
            </a:pPr>
            <a:r>
              <a:t>Do not claim a policy wins before running the simulation: the plots and statistics must support the conclusion.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CODE ROADMAP</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Putting the Python pieces together</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22</a:t>
            </a:r>
          </a:p>
        </p:txBody>
      </p:sp>
      <p:sp>
        <p:nvSpPr>
          <p:cNvPr id="7" name="Rounded Rectangle 6"/>
          <p:cNvSpPr/>
          <p:nvPr/>
        </p:nvSpPr>
        <p:spPr>
          <a:xfrm>
            <a:off x="731520" y="1554480"/>
            <a:ext cx="6720840" cy="448056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673352"/>
            <a:ext cx="6391655" cy="4242816"/>
          </a:xfrm>
          <a:prstGeom prst="rect">
            <a:avLst/>
          </a:prstGeom>
          <a:noFill/>
        </p:spPr>
        <p:txBody>
          <a:bodyPr wrap="square" lIns="73152" tIns="73152" rIns="73152" bIns="73152" anchor="t">
            <a:spAutoFit/>
          </a:bodyPr>
          <a:lstStyle/>
          <a:p>
            <a:pPr>
              <a:spcAft>
                <a:spcPts val="600"/>
              </a:spcAft>
              <a:defRPr sz="1300" b="0">
                <a:solidFill>
                  <a:srgbClr val="E4EFF9"/>
                </a:solidFill>
                <a:latin typeface="Consolas"/>
              </a:defRPr>
            </a:pPr>
            <a:r>
              <a:t># 1. Simulate physical pulse dynamics</a:t>
            </a:r>
          </a:p>
          <a:p>
            <a:pPr>
              <a:spcAft>
                <a:spcPts val="600"/>
              </a:spcAft>
              <a:defRPr sz="1300" b="0">
                <a:solidFill>
                  <a:srgbClr val="E4EFF9"/>
                </a:solidFill>
                <a:latin typeface="Consolas"/>
              </a:defRPr>
            </a:pPr>
            <a:r>
              <a:t>P0, P1, P2, psi_f = simulate_pulse(amp, beta, detuning)</a:t>
            </a:r>
          </a:p>
          <a:p>
            <a:pPr>
              <a:spcAft>
                <a:spcPts val="600"/>
              </a:spcAft>
              <a:defRPr sz="1300" b="0">
                <a:solidFill>
                  <a:srgbClr val="E4EFF9"/>
                </a:solidFill>
                <a:latin typeface="Consolas"/>
              </a:defRPr>
            </a:pPr>
            <a:endParaRPr/>
          </a:p>
          <a:p>
            <a:pPr>
              <a:spcAft>
                <a:spcPts val="600"/>
              </a:spcAft>
              <a:defRPr sz="1300" b="0">
                <a:solidFill>
                  <a:srgbClr val="E4EFF9"/>
                </a:solidFill>
                <a:latin typeface="Consolas"/>
              </a:defRPr>
            </a:pPr>
            <a:r>
              <a:t># 2. Estimate an outcome using repeated shots</a:t>
            </a:r>
          </a:p>
          <a:p>
            <a:pPr>
              <a:spcAft>
                <a:spcPts val="600"/>
              </a:spcAft>
              <a:defRPr sz="1300" b="0">
                <a:solidFill>
                  <a:srgbClr val="E4EFF9"/>
                </a:solidFill>
                <a:latin typeface="Consolas"/>
              </a:defRPr>
            </a:pPr>
            <a:r>
              <a:t>p1_hat, extra, shots = run_experiment(...)</a:t>
            </a:r>
          </a:p>
          <a:p>
            <a:pPr>
              <a:spcAft>
                <a:spcPts val="600"/>
              </a:spcAft>
              <a:defRPr sz="1300" b="0">
                <a:solidFill>
                  <a:srgbClr val="E4EFF9"/>
                </a:solidFill>
                <a:latin typeface="Consolas"/>
              </a:defRPr>
            </a:pPr>
            <a:endParaRPr/>
          </a:p>
          <a:p>
            <a:pPr>
              <a:spcAft>
                <a:spcPts val="600"/>
              </a:spcAft>
              <a:defRPr sz="1300" b="0">
                <a:solidFill>
                  <a:srgbClr val="E4EFF9"/>
                </a:solidFill>
                <a:latin typeface="Consolas"/>
              </a:defRPr>
            </a:pPr>
            <a:r>
              <a:t># 3. Calibrate parameters</a:t>
            </a:r>
          </a:p>
          <a:p>
            <a:pPr>
              <a:spcAft>
                <a:spcPts val="600"/>
              </a:spcAft>
              <a:defRPr sz="1300" b="0">
                <a:solidFill>
                  <a:srgbClr val="E4EFF9"/>
                </a:solidFill>
                <a:latin typeface="Consolas"/>
              </a:defRPr>
            </a:pPr>
            <a:r>
              <a:t>amp_hat = calibrate_pi_amplitude(...)</a:t>
            </a:r>
          </a:p>
          <a:p>
            <a:pPr>
              <a:spcAft>
                <a:spcPts val="600"/>
              </a:spcAft>
              <a:defRPr sz="1300" b="0">
                <a:solidFill>
                  <a:srgbClr val="E4EFF9"/>
                </a:solidFill>
                <a:latin typeface="Consolas"/>
              </a:defRPr>
            </a:pPr>
            <a:r>
              <a:t>df_hat = calibrate_frequency_ramsey(...)</a:t>
            </a:r>
          </a:p>
          <a:p>
            <a:pPr>
              <a:spcAft>
                <a:spcPts val="600"/>
              </a:spcAft>
              <a:defRPr sz="1300" b="0">
                <a:solidFill>
                  <a:srgbClr val="E4EFF9"/>
                </a:solidFill>
                <a:latin typeface="Consolas"/>
              </a:defRPr>
            </a:pPr>
            <a:r>
              <a:t>beta_hat = calibrate_drag(...)</a:t>
            </a:r>
          </a:p>
          <a:p>
            <a:pPr>
              <a:spcAft>
                <a:spcPts val="600"/>
              </a:spcAft>
              <a:defRPr sz="1300" b="0">
                <a:solidFill>
                  <a:srgbClr val="E4EFF9"/>
                </a:solidFill>
                <a:latin typeface="Consolas"/>
              </a:defRPr>
            </a:pPr>
            <a:endParaRPr/>
          </a:p>
          <a:p>
            <a:pPr>
              <a:spcAft>
                <a:spcPts val="600"/>
              </a:spcAft>
              <a:defRPr sz="1300" b="0">
                <a:solidFill>
                  <a:srgbClr val="E4EFF9"/>
                </a:solidFill>
                <a:latin typeface="Consolas"/>
              </a:defRPr>
            </a:pPr>
            <a:r>
              <a:t># 4. Run policy through simulated day</a:t>
            </a:r>
          </a:p>
          <a:p>
            <a:pPr>
              <a:spcAft>
                <a:spcPts val="600"/>
              </a:spcAft>
              <a:defRPr sz="1300" b="0">
                <a:solidFill>
                  <a:srgbClr val="E4EFF9"/>
                </a:solidFill>
                <a:latin typeface="Consolas"/>
              </a:defRPr>
            </a:pPr>
            <a:r>
              <a:t>trace = run_policy(policy, drift_seed=seed)</a:t>
            </a:r>
          </a:p>
          <a:p>
            <a:pPr>
              <a:spcAft>
                <a:spcPts val="600"/>
              </a:spcAft>
              <a:defRPr sz="1300" b="0">
                <a:solidFill>
                  <a:srgbClr val="E4EFF9"/>
                </a:solidFill>
                <a:latin typeface="Consolas"/>
              </a:defRPr>
            </a:pPr>
            <a:endParaRPr/>
          </a:p>
          <a:p>
            <a:pPr>
              <a:spcAft>
                <a:spcPts val="600"/>
              </a:spcAft>
              <a:defRPr sz="1300" b="0">
                <a:solidFill>
                  <a:srgbClr val="E4EFF9"/>
                </a:solidFill>
                <a:latin typeface="Consolas"/>
              </a:defRPr>
            </a:pPr>
            <a:r>
              <a:t># 5. Evaluate downstream QAOA MaxCut</a:t>
            </a:r>
          </a:p>
          <a:p>
            <a:pPr>
              <a:spcAft>
                <a:spcPts val="600"/>
              </a:spcAft>
              <a:defRPr sz="1300" b="0">
                <a:solidFill>
                  <a:srgbClr val="E4EFF9"/>
                </a:solidFill>
                <a:latin typeface="Consolas"/>
              </a:defRPr>
            </a:pPr>
            <a:r>
              <a:t>cost_trace = evaluate_qaoa(trace)</a:t>
            </a:r>
          </a:p>
        </p:txBody>
      </p:sp>
      <p:sp>
        <p:nvSpPr>
          <p:cNvPr id="9" name="TextBox 8"/>
          <p:cNvSpPr txBox="1"/>
          <p:nvPr/>
        </p:nvSpPr>
        <p:spPr>
          <a:xfrm>
            <a:off x="7818120" y="1828800"/>
            <a:ext cx="3566160" cy="3383280"/>
          </a:xfrm>
          <a:prstGeom prst="rect">
            <a:avLst/>
          </a:prstGeom>
          <a:noFill/>
        </p:spPr>
        <p:txBody>
          <a:bodyPr wrap="square" lIns="109728" tIns="73152" rIns="73152">
            <a:spAutoFit/>
          </a:bodyPr>
          <a:lstStyle/>
          <a:p>
            <a:pPr>
              <a:spcAft>
                <a:spcPts val="700"/>
              </a:spcAft>
              <a:defRPr sz="1500">
                <a:solidFill>
                  <a:srgbClr val="27303E"/>
                </a:solidFill>
                <a:latin typeface="Aptos"/>
              </a:defRPr>
            </a:pPr>
            <a:r>
              <a:t>•  Physics simulator: predicts the pulse dynamics.</a:t>
            </a:r>
          </a:p>
          <a:p>
            <a:pPr>
              <a:spcAft>
                <a:spcPts val="700"/>
              </a:spcAft>
              <a:defRPr sz="1500">
                <a:solidFill>
                  <a:srgbClr val="27303E"/>
                </a:solidFill>
                <a:latin typeface="Aptos"/>
              </a:defRPr>
            </a:pPr>
            <a:r>
              <a:t>•  Measurement wrapper: adds shot noise and counts shots.</a:t>
            </a:r>
          </a:p>
          <a:p>
            <a:pPr>
              <a:spcAft>
                <a:spcPts val="700"/>
              </a:spcAft>
              <a:defRPr sz="1500">
                <a:solidFill>
                  <a:srgbClr val="27303E"/>
                </a:solidFill>
                <a:latin typeface="Aptos"/>
              </a:defRPr>
            </a:pPr>
            <a:r>
              <a:t>•  Calibration routines: estimate control settings.</a:t>
            </a:r>
          </a:p>
          <a:p>
            <a:pPr>
              <a:spcAft>
                <a:spcPts val="700"/>
              </a:spcAft>
              <a:defRPr sz="1500">
                <a:solidFill>
                  <a:srgbClr val="27303E"/>
                </a:solidFill>
                <a:latin typeface="Aptos"/>
              </a:defRPr>
            </a:pPr>
            <a:r>
              <a:t>•  Policy layer: decides when to recalibrate.</a:t>
            </a:r>
          </a:p>
          <a:p>
            <a:pPr>
              <a:spcAft>
                <a:spcPts val="700"/>
              </a:spcAft>
              <a:defRPr sz="1500">
                <a:solidFill>
                  <a:srgbClr val="27303E"/>
                </a:solidFill>
                <a:latin typeface="Aptos"/>
              </a:defRPr>
            </a:pPr>
            <a:r>
              <a:t>•  Evaluation: measures gate error and algorithm cost.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PRESENTATION NOTES</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rPr dirty="0"/>
              <a:t>A simple way to explain the project aloud</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23</a:t>
            </a:r>
          </a:p>
        </p:txBody>
      </p:sp>
      <p:sp>
        <p:nvSpPr>
          <p:cNvPr id="7" name="Rounded Rectangle 6"/>
          <p:cNvSpPr/>
          <p:nvPr/>
        </p:nvSpPr>
        <p:spPr>
          <a:xfrm>
            <a:off x="777240" y="1554480"/>
            <a:ext cx="10652760" cy="4343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874519"/>
            <a:ext cx="10058400" cy="3071610"/>
          </a:xfrm>
          <a:prstGeom prst="rect">
            <a:avLst/>
          </a:prstGeom>
          <a:noFill/>
        </p:spPr>
        <p:txBody>
          <a:bodyPr wrap="square" lIns="73152" tIns="73152" rIns="73152" bIns="73152" anchor="t">
            <a:spAutoFit/>
          </a:bodyPr>
          <a:lstStyle/>
          <a:p>
            <a:pPr>
              <a:spcAft>
                <a:spcPts val="600"/>
              </a:spcAft>
              <a:defRPr sz="1900" b="0">
                <a:solidFill>
                  <a:srgbClr val="162745"/>
                </a:solidFill>
                <a:latin typeface="Aptos"/>
              </a:defRPr>
            </a:pPr>
            <a:r>
              <a:rPr dirty="0"/>
              <a:t>“</a:t>
            </a:r>
            <a:r>
              <a:rPr lang="en-IN" dirty="0"/>
              <a:t>The</a:t>
            </a:r>
            <a:r>
              <a:rPr dirty="0"/>
              <a:t> project studies how to keep a superconducting </a:t>
            </a:r>
            <a:r>
              <a:rPr dirty="0" err="1"/>
              <a:t>transmon</a:t>
            </a:r>
            <a:r>
              <a:rPr dirty="0"/>
              <a:t> qubit calibrated while its parameters drift over time. We model three energy levels so that we can capture leakage into |2⟩. We first calibrate pulse amplitude, drive frequency, and the DRAG correction. For frequency calibration, Ramsey measurements provide information about detuning. Instead of testing all delays equally, Bayesian adaptive design selects the next delay expected to reduce uncertainty the most. We then compare three operating policies: no recalibration, fixed-schedule recalibration, and health-check-triggered recalibration. We measure both gate error and the time spent calibrating. Finally, we insert the resulting imperfect single-qubit gates into a p = 1 QAOA circuit for </a:t>
            </a:r>
            <a:r>
              <a:rPr dirty="0" err="1"/>
              <a:t>MaxCut</a:t>
            </a:r>
            <a:r>
              <a:rPr dirty="0"/>
              <a:t> on a four-qubit ring. This shows how hardware calibration choices can affect an actual quantum computation.”</a:t>
            </a:r>
          </a:p>
        </p:txBody>
      </p:sp>
      <p:sp>
        <p:nvSpPr>
          <p:cNvPr id="9" name="TextBox 8"/>
          <p:cNvSpPr txBox="1"/>
          <p:nvPr/>
        </p:nvSpPr>
        <p:spPr>
          <a:xfrm>
            <a:off x="914400" y="6080760"/>
            <a:ext cx="10332720" cy="274320"/>
          </a:xfrm>
          <a:prstGeom prst="rect">
            <a:avLst/>
          </a:prstGeom>
          <a:noFill/>
        </p:spPr>
        <p:txBody>
          <a:bodyPr wrap="square" lIns="73152" tIns="73152" rIns="73152" bIns="73152" anchor="t">
            <a:spAutoFit/>
          </a:bodyPr>
          <a:lstStyle/>
          <a:p>
            <a:pPr algn="ctr">
              <a:spcAft>
                <a:spcPts val="600"/>
              </a:spcAft>
              <a:defRPr sz="1300" b="1">
                <a:solidFill>
                  <a:srgbClr val="009691"/>
                </a:solidFill>
                <a:latin typeface="Aptos"/>
              </a:defRPr>
            </a:pPr>
            <a:r>
              <a:t>Tip: explain the pipeline first; introduce equations only when someone asks how each stage works.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REVISION</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Quick glossary</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24</a:t>
            </a:r>
          </a:p>
        </p:txBody>
      </p:sp>
      <p:sp>
        <p:nvSpPr>
          <p:cNvPr id="7" name="Rounded Rectangle 6"/>
          <p:cNvSpPr/>
          <p:nvPr/>
        </p:nvSpPr>
        <p:spPr>
          <a:xfrm>
            <a:off x="731520" y="1508760"/>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81912"/>
            <a:ext cx="1508760" cy="246888"/>
          </a:xfrm>
          <a:prstGeom prst="rect">
            <a:avLst/>
          </a:prstGeom>
          <a:noFill/>
        </p:spPr>
        <p:txBody>
          <a:bodyPr wrap="square" lIns="73152" tIns="73152" rIns="73152" bIns="73152" anchor="t">
            <a:spAutoFit/>
          </a:bodyPr>
          <a:lstStyle/>
          <a:p>
            <a:pPr>
              <a:spcAft>
                <a:spcPts val="600"/>
              </a:spcAft>
              <a:defRPr sz="1300" b="1">
                <a:solidFill>
                  <a:srgbClr val="009691"/>
                </a:solidFill>
                <a:latin typeface="Aptos"/>
              </a:defRPr>
            </a:pPr>
            <a:r>
              <a:t>Transmon</a:t>
            </a:r>
          </a:p>
        </p:txBody>
      </p:sp>
      <p:sp>
        <p:nvSpPr>
          <p:cNvPr id="9" name="TextBox 8"/>
          <p:cNvSpPr txBox="1"/>
          <p:nvPr/>
        </p:nvSpPr>
        <p:spPr>
          <a:xfrm>
            <a:off x="2423160" y="1572768"/>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Superconducting circuit used as a qubit.</a:t>
            </a:r>
          </a:p>
        </p:txBody>
      </p:sp>
      <p:sp>
        <p:nvSpPr>
          <p:cNvPr id="10" name="Rounded Rectangle 9"/>
          <p:cNvSpPr/>
          <p:nvPr/>
        </p:nvSpPr>
        <p:spPr>
          <a:xfrm>
            <a:off x="731520" y="2368296"/>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441448"/>
            <a:ext cx="1508760" cy="246888"/>
          </a:xfrm>
          <a:prstGeom prst="rect">
            <a:avLst/>
          </a:prstGeom>
          <a:noFill/>
        </p:spPr>
        <p:txBody>
          <a:bodyPr wrap="square" lIns="73152" tIns="73152" rIns="73152" bIns="73152" anchor="t">
            <a:spAutoFit/>
          </a:bodyPr>
          <a:lstStyle/>
          <a:p>
            <a:pPr>
              <a:spcAft>
                <a:spcPts val="600"/>
              </a:spcAft>
              <a:defRPr sz="1300" b="1">
                <a:solidFill>
                  <a:srgbClr val="009691"/>
                </a:solidFill>
                <a:latin typeface="Aptos"/>
              </a:defRPr>
            </a:pPr>
            <a:r>
              <a:t>Detuning Δf</a:t>
            </a:r>
          </a:p>
        </p:txBody>
      </p:sp>
      <p:sp>
        <p:nvSpPr>
          <p:cNvPr id="12" name="TextBox 11"/>
          <p:cNvSpPr txBox="1"/>
          <p:nvPr/>
        </p:nvSpPr>
        <p:spPr>
          <a:xfrm>
            <a:off x="2423160" y="2432303"/>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Difference between drive frequency and qubit transition frequency.</a:t>
            </a:r>
          </a:p>
        </p:txBody>
      </p:sp>
      <p:sp>
        <p:nvSpPr>
          <p:cNvPr id="13" name="Rounded Rectangle 12"/>
          <p:cNvSpPr/>
          <p:nvPr/>
        </p:nvSpPr>
        <p:spPr>
          <a:xfrm>
            <a:off x="731520" y="3227832"/>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300984"/>
            <a:ext cx="1508760" cy="246888"/>
          </a:xfrm>
          <a:prstGeom prst="rect">
            <a:avLst/>
          </a:prstGeom>
          <a:noFill/>
        </p:spPr>
        <p:txBody>
          <a:bodyPr wrap="square" lIns="73152" tIns="73152" rIns="73152" bIns="73152" anchor="t">
            <a:spAutoFit/>
          </a:bodyPr>
          <a:lstStyle/>
          <a:p>
            <a:pPr>
              <a:spcAft>
                <a:spcPts val="600"/>
              </a:spcAft>
              <a:defRPr sz="1300" b="1">
                <a:solidFill>
                  <a:srgbClr val="009691"/>
                </a:solidFill>
                <a:latin typeface="Aptos"/>
              </a:defRPr>
            </a:pPr>
            <a:r>
              <a:t>P₀, P₁, P₂</a:t>
            </a:r>
          </a:p>
        </p:txBody>
      </p:sp>
      <p:sp>
        <p:nvSpPr>
          <p:cNvPr id="15" name="TextBox 14"/>
          <p:cNvSpPr txBox="1"/>
          <p:nvPr/>
        </p:nvSpPr>
        <p:spPr>
          <a:xfrm>
            <a:off x="2423160" y="3291839"/>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Populations in levels |0⟩, |1⟩ and |2⟩.</a:t>
            </a:r>
          </a:p>
        </p:txBody>
      </p:sp>
      <p:sp>
        <p:nvSpPr>
          <p:cNvPr id="16" name="Rounded Rectangle 15"/>
          <p:cNvSpPr/>
          <p:nvPr/>
        </p:nvSpPr>
        <p:spPr>
          <a:xfrm>
            <a:off x="731520" y="4087368"/>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160520"/>
            <a:ext cx="1508760" cy="246888"/>
          </a:xfrm>
          <a:prstGeom prst="rect">
            <a:avLst/>
          </a:prstGeom>
          <a:noFill/>
        </p:spPr>
        <p:txBody>
          <a:bodyPr wrap="square" lIns="73152" tIns="73152" rIns="73152" bIns="73152" anchor="t">
            <a:spAutoFit/>
          </a:bodyPr>
          <a:lstStyle/>
          <a:p>
            <a:pPr>
              <a:spcAft>
                <a:spcPts val="600"/>
              </a:spcAft>
              <a:defRPr sz="1300" b="1">
                <a:solidFill>
                  <a:srgbClr val="009691"/>
                </a:solidFill>
                <a:latin typeface="Aptos"/>
              </a:defRPr>
            </a:pPr>
            <a:r>
              <a:t>Leakage</a:t>
            </a:r>
          </a:p>
        </p:txBody>
      </p:sp>
      <p:sp>
        <p:nvSpPr>
          <p:cNvPr id="18" name="TextBox 17"/>
          <p:cNvSpPr txBox="1"/>
          <p:nvPr/>
        </p:nvSpPr>
        <p:spPr>
          <a:xfrm>
            <a:off x="2423160" y="4151376"/>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Population leaving the computational |0⟩, |1⟩ space.</a:t>
            </a:r>
          </a:p>
        </p:txBody>
      </p:sp>
      <p:sp>
        <p:nvSpPr>
          <p:cNvPr id="19" name="Rounded Rectangle 18"/>
          <p:cNvSpPr/>
          <p:nvPr/>
        </p:nvSpPr>
        <p:spPr>
          <a:xfrm>
            <a:off x="731520" y="4946904"/>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020056"/>
            <a:ext cx="1508760" cy="246888"/>
          </a:xfrm>
          <a:prstGeom prst="rect">
            <a:avLst/>
          </a:prstGeom>
          <a:noFill/>
        </p:spPr>
        <p:txBody>
          <a:bodyPr wrap="square" lIns="73152" tIns="73152" rIns="73152" bIns="73152" anchor="t">
            <a:spAutoFit/>
          </a:bodyPr>
          <a:lstStyle/>
          <a:p>
            <a:pPr>
              <a:spcAft>
                <a:spcPts val="600"/>
              </a:spcAft>
              <a:defRPr sz="1300" b="1">
                <a:solidFill>
                  <a:srgbClr val="009691"/>
                </a:solidFill>
                <a:latin typeface="Aptos"/>
              </a:defRPr>
            </a:pPr>
            <a:r>
              <a:t>DRAG β</a:t>
            </a:r>
          </a:p>
        </p:txBody>
      </p:sp>
      <p:sp>
        <p:nvSpPr>
          <p:cNvPr id="21" name="TextBox 20"/>
          <p:cNvSpPr txBox="1"/>
          <p:nvPr/>
        </p:nvSpPr>
        <p:spPr>
          <a:xfrm>
            <a:off x="2423160" y="5010912"/>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Knob setting the derivative-shaped quadrature correction.</a:t>
            </a:r>
          </a:p>
        </p:txBody>
      </p:sp>
      <p:sp>
        <p:nvSpPr>
          <p:cNvPr id="22" name="Rounded Rectangle 21"/>
          <p:cNvSpPr/>
          <p:nvPr/>
        </p:nvSpPr>
        <p:spPr>
          <a:xfrm>
            <a:off x="6355080" y="1508760"/>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1581912"/>
            <a:ext cx="1508760" cy="246888"/>
          </a:xfrm>
          <a:prstGeom prst="rect">
            <a:avLst/>
          </a:prstGeom>
          <a:noFill/>
        </p:spPr>
        <p:txBody>
          <a:bodyPr wrap="square" lIns="73152" tIns="73152" rIns="73152" bIns="73152" anchor="t">
            <a:spAutoFit/>
          </a:bodyPr>
          <a:lstStyle/>
          <a:p>
            <a:pPr>
              <a:spcAft>
                <a:spcPts val="600"/>
              </a:spcAft>
              <a:defRPr sz="1300" b="1">
                <a:solidFill>
                  <a:srgbClr val="765BA6"/>
                </a:solidFill>
                <a:latin typeface="Aptos"/>
              </a:defRPr>
            </a:pPr>
            <a:r>
              <a:t>Shot</a:t>
            </a:r>
          </a:p>
        </p:txBody>
      </p:sp>
      <p:sp>
        <p:nvSpPr>
          <p:cNvPr id="24" name="TextBox 23"/>
          <p:cNvSpPr txBox="1"/>
          <p:nvPr/>
        </p:nvSpPr>
        <p:spPr>
          <a:xfrm>
            <a:off x="8046720" y="1572768"/>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One repeated prepare–operate–measure trial.</a:t>
            </a:r>
          </a:p>
        </p:txBody>
      </p:sp>
      <p:sp>
        <p:nvSpPr>
          <p:cNvPr id="25" name="Rounded Rectangle 24"/>
          <p:cNvSpPr/>
          <p:nvPr/>
        </p:nvSpPr>
        <p:spPr>
          <a:xfrm>
            <a:off x="6355080" y="2368296"/>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2441448"/>
            <a:ext cx="1508760" cy="246888"/>
          </a:xfrm>
          <a:prstGeom prst="rect">
            <a:avLst/>
          </a:prstGeom>
          <a:noFill/>
        </p:spPr>
        <p:txBody>
          <a:bodyPr wrap="square" lIns="73152" tIns="73152" rIns="73152" bIns="73152" anchor="t">
            <a:spAutoFit/>
          </a:bodyPr>
          <a:lstStyle/>
          <a:p>
            <a:pPr>
              <a:spcAft>
                <a:spcPts val="600"/>
              </a:spcAft>
              <a:defRPr sz="1300" b="1">
                <a:solidFill>
                  <a:srgbClr val="765BA6"/>
                </a:solidFill>
                <a:latin typeface="Aptos"/>
              </a:defRPr>
            </a:pPr>
            <a:r>
              <a:t>Likelihood</a:t>
            </a:r>
          </a:p>
        </p:txBody>
      </p:sp>
      <p:sp>
        <p:nvSpPr>
          <p:cNvPr id="27" name="TextBox 26"/>
          <p:cNvSpPr txBox="1"/>
          <p:nvPr/>
        </p:nvSpPr>
        <p:spPr>
          <a:xfrm>
            <a:off x="8046720" y="2432303"/>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Probability of an observation under a candidate parameter.</a:t>
            </a:r>
          </a:p>
        </p:txBody>
      </p:sp>
      <p:sp>
        <p:nvSpPr>
          <p:cNvPr id="28" name="Rounded Rectangle 27"/>
          <p:cNvSpPr/>
          <p:nvPr/>
        </p:nvSpPr>
        <p:spPr>
          <a:xfrm>
            <a:off x="6355080" y="3227832"/>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3300984"/>
            <a:ext cx="1508760" cy="246888"/>
          </a:xfrm>
          <a:prstGeom prst="rect">
            <a:avLst/>
          </a:prstGeom>
          <a:noFill/>
        </p:spPr>
        <p:txBody>
          <a:bodyPr wrap="square" lIns="73152" tIns="73152" rIns="73152" bIns="73152" anchor="t">
            <a:spAutoFit/>
          </a:bodyPr>
          <a:lstStyle/>
          <a:p>
            <a:pPr>
              <a:spcAft>
                <a:spcPts val="600"/>
              </a:spcAft>
              <a:defRPr sz="1300" b="1">
                <a:solidFill>
                  <a:srgbClr val="765BA6"/>
                </a:solidFill>
                <a:latin typeface="Aptos"/>
              </a:defRPr>
            </a:pPr>
            <a:r>
              <a:t>Posterior</a:t>
            </a:r>
          </a:p>
        </p:txBody>
      </p:sp>
      <p:sp>
        <p:nvSpPr>
          <p:cNvPr id="30" name="TextBox 29"/>
          <p:cNvSpPr txBox="1"/>
          <p:nvPr/>
        </p:nvSpPr>
        <p:spPr>
          <a:xfrm>
            <a:off x="8046720" y="3291839"/>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Updated probability distribution after observing data.</a:t>
            </a:r>
          </a:p>
        </p:txBody>
      </p:sp>
      <p:sp>
        <p:nvSpPr>
          <p:cNvPr id="31" name="Rounded Rectangle 30"/>
          <p:cNvSpPr/>
          <p:nvPr/>
        </p:nvSpPr>
        <p:spPr>
          <a:xfrm>
            <a:off x="6355080" y="4087368"/>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4160520"/>
            <a:ext cx="1508760" cy="246888"/>
          </a:xfrm>
          <a:prstGeom prst="rect">
            <a:avLst/>
          </a:prstGeom>
          <a:noFill/>
        </p:spPr>
        <p:txBody>
          <a:bodyPr wrap="square" lIns="73152" tIns="73152" rIns="73152" bIns="73152" anchor="t">
            <a:spAutoFit/>
          </a:bodyPr>
          <a:lstStyle/>
          <a:p>
            <a:pPr>
              <a:spcAft>
                <a:spcPts val="600"/>
              </a:spcAft>
              <a:defRPr sz="1300" b="1">
                <a:solidFill>
                  <a:srgbClr val="765BA6"/>
                </a:solidFill>
                <a:latin typeface="Aptos"/>
              </a:defRPr>
            </a:pPr>
            <a:r>
              <a:t>EIG</a:t>
            </a:r>
          </a:p>
        </p:txBody>
      </p:sp>
      <p:sp>
        <p:nvSpPr>
          <p:cNvPr id="33" name="TextBox 32"/>
          <p:cNvSpPr txBox="1"/>
          <p:nvPr/>
        </p:nvSpPr>
        <p:spPr>
          <a:xfrm>
            <a:off x="8046720" y="4151376"/>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Expected information gain; predicted reduction in uncertainty.</a:t>
            </a:r>
          </a:p>
        </p:txBody>
      </p:sp>
      <p:sp>
        <p:nvSpPr>
          <p:cNvPr id="34" name="Rounded Rectangle 33"/>
          <p:cNvSpPr/>
          <p:nvPr/>
        </p:nvSpPr>
        <p:spPr>
          <a:xfrm>
            <a:off x="6355080" y="4946904"/>
            <a:ext cx="525780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92240" y="5020056"/>
            <a:ext cx="1508760" cy="246888"/>
          </a:xfrm>
          <a:prstGeom prst="rect">
            <a:avLst/>
          </a:prstGeom>
          <a:noFill/>
        </p:spPr>
        <p:txBody>
          <a:bodyPr wrap="square" lIns="73152" tIns="73152" rIns="73152" bIns="73152" anchor="t">
            <a:spAutoFit/>
          </a:bodyPr>
          <a:lstStyle/>
          <a:p>
            <a:pPr>
              <a:spcAft>
                <a:spcPts val="600"/>
              </a:spcAft>
              <a:defRPr sz="1300" b="1">
                <a:solidFill>
                  <a:srgbClr val="765BA6"/>
                </a:solidFill>
                <a:latin typeface="Aptos"/>
              </a:defRPr>
            </a:pPr>
            <a:r>
              <a:t>Pareto frontier</a:t>
            </a:r>
          </a:p>
        </p:txBody>
      </p:sp>
      <p:sp>
        <p:nvSpPr>
          <p:cNvPr id="36" name="TextBox 35"/>
          <p:cNvSpPr txBox="1"/>
          <p:nvPr/>
        </p:nvSpPr>
        <p:spPr>
          <a:xfrm>
            <a:off x="8046720" y="5010912"/>
            <a:ext cx="3383280" cy="502920"/>
          </a:xfrm>
          <a:prstGeom prst="rect">
            <a:avLst/>
          </a:prstGeom>
          <a:noFill/>
        </p:spPr>
        <p:txBody>
          <a:bodyPr wrap="square" lIns="73152" tIns="73152" rIns="73152" bIns="73152" anchor="t">
            <a:spAutoFit/>
          </a:bodyPr>
          <a:lstStyle/>
          <a:p>
            <a:pPr>
              <a:spcAft>
                <a:spcPts val="600"/>
              </a:spcAft>
              <a:defRPr sz="1200" b="0">
                <a:solidFill>
                  <a:srgbClr val="27303E"/>
                </a:solidFill>
                <a:latin typeface="Aptos"/>
              </a:defRPr>
            </a:pPr>
            <a:r>
              <a:t>Best trade-offs where no objective can improve without worsening another.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4206240" cy="256032"/>
          </a:xfrm>
          <a:prstGeom prst="rect">
            <a:avLst/>
          </a:prstGeom>
          <a:noFill/>
        </p:spPr>
        <p:txBody>
          <a:bodyPr wrap="square" lIns="73152" tIns="73152" rIns="73152" bIns="73152" anchor="t">
            <a:spAutoFit/>
          </a:bodyPr>
          <a:lstStyle/>
          <a:p>
            <a:pPr>
              <a:spcAft>
                <a:spcPts val="600"/>
              </a:spcAft>
              <a:defRPr sz="1000" b="1">
                <a:solidFill>
                  <a:srgbClr val="009691"/>
                </a:solidFill>
                <a:latin typeface="Aptos"/>
              </a:defRPr>
            </a:pPr>
            <a:r>
              <a:t>TAKEAWAYS</a:t>
            </a:r>
          </a:p>
        </p:txBody>
      </p:sp>
      <p:sp>
        <p:nvSpPr>
          <p:cNvPr id="4" name="TextBox 3"/>
          <p:cNvSpPr txBox="1"/>
          <p:nvPr/>
        </p:nvSpPr>
        <p:spPr>
          <a:xfrm>
            <a:off x="502920" y="640080"/>
            <a:ext cx="11064240" cy="530352"/>
          </a:xfrm>
          <a:prstGeom prst="rect">
            <a:avLst/>
          </a:prstGeom>
          <a:noFill/>
        </p:spPr>
        <p:txBody>
          <a:bodyPr wrap="square" lIns="73152" tIns="73152" rIns="73152" bIns="73152" anchor="t">
            <a:spAutoFit/>
          </a:bodyPr>
          <a:lstStyle/>
          <a:p>
            <a:pPr>
              <a:spcAft>
                <a:spcPts val="600"/>
              </a:spcAft>
              <a:defRPr sz="2700" b="1">
                <a:solidFill>
                  <a:srgbClr val="162745"/>
                </a:solidFill>
                <a:latin typeface="Aptos"/>
              </a:defRPr>
            </a:pPr>
            <a:r>
              <a:t>The big picture: what should the project demonstrate?</a:t>
            </a:r>
          </a:p>
        </p:txBody>
      </p:sp>
      <p:sp>
        <p:nvSpPr>
          <p:cNvPr id="5" name="Rectangle 4"/>
          <p:cNvSpPr/>
          <p:nvPr/>
        </p:nvSpPr>
        <p:spPr>
          <a:xfrm>
            <a:off x="502920" y="1252728"/>
            <a:ext cx="914400" cy="50292"/>
          </a:xfrm>
          <a:prstGeom prst="rect">
            <a:avLst/>
          </a:prstGeom>
          <a:solidFill>
            <a:srgbClr val="F4B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502920" cy="201168"/>
          </a:xfrm>
          <a:prstGeom prst="rect">
            <a:avLst/>
          </a:prstGeom>
          <a:noFill/>
        </p:spPr>
        <p:txBody>
          <a:bodyPr wrap="square" lIns="73152" tIns="73152" rIns="73152" bIns="73152" anchor="t">
            <a:spAutoFit/>
          </a:bodyPr>
          <a:lstStyle/>
          <a:p>
            <a:pPr algn="r">
              <a:spcAft>
                <a:spcPts val="600"/>
              </a:spcAft>
              <a:defRPr sz="1000" b="0">
                <a:solidFill>
                  <a:srgbClr val="5C687A"/>
                </a:solidFill>
                <a:latin typeface="Aptos"/>
              </a:defRPr>
            </a:pPr>
            <a:r>
              <a:t>25</a:t>
            </a:r>
          </a:p>
        </p:txBody>
      </p:sp>
      <p:sp>
        <p:nvSpPr>
          <p:cNvPr id="7" name="TextBox 6"/>
          <p:cNvSpPr txBox="1"/>
          <p:nvPr/>
        </p:nvSpPr>
        <p:spPr>
          <a:xfrm>
            <a:off x="914400" y="1645920"/>
            <a:ext cx="10332720" cy="4251960"/>
          </a:xfrm>
          <a:prstGeom prst="rect">
            <a:avLst/>
          </a:prstGeom>
          <a:noFill/>
        </p:spPr>
        <p:txBody>
          <a:bodyPr wrap="square" lIns="109728" tIns="73152" rIns="73152">
            <a:spAutoFit/>
          </a:bodyPr>
          <a:lstStyle/>
          <a:p>
            <a:pPr>
              <a:spcAft>
                <a:spcPts val="700"/>
              </a:spcAft>
              <a:defRPr sz="1800">
                <a:solidFill>
                  <a:srgbClr val="27303E"/>
                </a:solidFill>
                <a:latin typeface="Aptos"/>
              </a:defRPr>
            </a:pPr>
            <a:r>
              <a:t>•  A three-level model captures both useful qubit rotation and leakage.</a:t>
            </a:r>
          </a:p>
          <a:p>
            <a:pPr>
              <a:spcAft>
                <a:spcPts val="700"/>
              </a:spcAft>
              <a:defRPr sz="1800">
                <a:solidFill>
                  <a:srgbClr val="27303E"/>
                </a:solidFill>
                <a:latin typeface="Aptos"/>
              </a:defRPr>
            </a:pPr>
            <a:r>
              <a:t>•  Calibration estimates the settings that make gates more accurate.</a:t>
            </a:r>
          </a:p>
          <a:p>
            <a:pPr>
              <a:spcAft>
                <a:spcPts val="700"/>
              </a:spcAft>
              <a:defRPr sz="1800">
                <a:solidFill>
                  <a:srgbClr val="27303E"/>
                </a:solidFill>
                <a:latin typeface="Aptos"/>
              </a:defRPr>
            </a:pPr>
            <a:r>
              <a:t>•  Bayesian adaptive Ramsey chooses informative delays and can reduce shot usage.</a:t>
            </a:r>
          </a:p>
          <a:p>
            <a:pPr>
              <a:spcAft>
                <a:spcPts val="700"/>
              </a:spcAft>
              <a:defRPr sz="1800">
                <a:solidFill>
                  <a:srgbClr val="27303E"/>
                </a:solidFill>
                <a:latin typeface="Aptos"/>
              </a:defRPr>
            </a:pPr>
            <a:r>
              <a:t>•  Calibration policies trade gate quality against time spent recalibrating.</a:t>
            </a:r>
          </a:p>
          <a:p>
            <a:pPr>
              <a:spcAft>
                <a:spcPts val="700"/>
              </a:spcAft>
              <a:defRPr sz="1800">
                <a:solidFill>
                  <a:srgbClr val="27303E"/>
                </a:solidFill>
                <a:latin typeface="Aptos"/>
              </a:defRPr>
            </a:pPr>
            <a:r>
              <a:t>•  The QAOA MaxCut test connects hardware-level errors to algorithm-level performance.</a:t>
            </a:r>
          </a:p>
          <a:p>
            <a:pPr>
              <a:spcAft>
                <a:spcPts val="700"/>
              </a:spcAft>
              <a:defRPr sz="1800">
                <a:solidFill>
                  <a:srgbClr val="27303E"/>
                </a:solidFill>
                <a:latin typeface="Aptos"/>
              </a:defRPr>
            </a:pPr>
            <a:r>
              <a:t>•  Conclusions must be based on measured simulation results, with uncertainty across drift seeds.</a:t>
            </a:r>
          </a:p>
        </p:txBody>
      </p:sp>
      <p:sp>
        <p:nvSpPr>
          <p:cNvPr id="8" name="Rounded Rectangle 7"/>
          <p:cNvSpPr/>
          <p:nvPr/>
        </p:nvSpPr>
        <p:spPr>
          <a:xfrm>
            <a:off x="914400" y="5623560"/>
            <a:ext cx="10241280" cy="594360"/>
          </a:xfrm>
          <a:prstGeom prst="roundRect">
            <a:avLst/>
          </a:prstGeom>
          <a:solidFill>
            <a:srgbClr val="16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5760720"/>
            <a:ext cx="9784080" cy="274320"/>
          </a:xfrm>
          <a:prstGeom prst="rect">
            <a:avLst/>
          </a:prstGeom>
          <a:noFill/>
        </p:spPr>
        <p:txBody>
          <a:bodyPr wrap="square" lIns="73152" tIns="73152" rIns="73152" bIns="73152" anchor="t">
            <a:spAutoFit/>
          </a:bodyPr>
          <a:lstStyle/>
          <a:p>
            <a:pPr algn="ctr">
              <a:spcAft>
                <a:spcPts val="600"/>
              </a:spcAft>
              <a:defRPr sz="1700" b="1">
                <a:solidFill>
                  <a:srgbClr val="FFFFFF"/>
                </a:solidFill>
                <a:latin typeface="Aptos"/>
              </a:defRPr>
            </a:pPr>
            <a:r>
              <a:t>Device physics  →  Calibration  →  Policy  →  Algorithm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3073</Words>
  <Application>Microsoft Office PowerPoint</Application>
  <PresentationFormat>Widescreen</PresentationFormat>
  <Paragraphs>324</Paragraphs>
  <Slides>25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Shreya Mittal</cp:lastModifiedBy>
  <cp:revision>2</cp:revision>
  <dcterms:created xsi:type="dcterms:W3CDTF">2013-01-27T09:14:16Z</dcterms:created>
  <dcterms:modified xsi:type="dcterms:W3CDTF">2026-10-10T09:39:17Z</dcterms:modified>
  <cp:category/>
</cp:coreProperties>
</file>